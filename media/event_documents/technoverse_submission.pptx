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62" r:id="rId3"/>
    <p:sldId id="266" r:id="rId4"/>
    <p:sldId id="263" r:id="rId5"/>
    <p:sldId id="268" r:id="rId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47"/>
    <a:srgbClr val="535383"/>
    <a:srgbClr val="F1F1F1"/>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974B8B-5EAF-405E-B9F0-BC2DC4CD05C4}" v="4" dt="2026-04-12T14:21:13.919"/>
    <p1510:client id="{F5FBB196-01AF-4665-B156-A0599891DACC}" v="3" dt="2026-04-12T14:00:04.48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458" autoAdjust="0"/>
  </p:normalViewPr>
  <p:slideViewPr>
    <p:cSldViewPr>
      <p:cViewPr varScale="1">
        <p:scale>
          <a:sx n="74" d="100"/>
          <a:sy n="74" d="100"/>
        </p:scale>
        <p:origin x="187"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llabharath kumar" userId="d3f2b4679c814353" providerId="LiveId" clId="{CC261722-8624-4EFF-8543-51EC3408ACC7}"/>
    <pc:docChg chg="undo custSel addSld delSld modSld sldOrd">
      <pc:chgData name="gallabharath kumar" userId="d3f2b4679c814353" providerId="LiveId" clId="{CC261722-8624-4EFF-8543-51EC3408ACC7}" dt="2026-04-12T14:24:04.512" v="98" actId="2696"/>
      <pc:docMkLst>
        <pc:docMk/>
      </pc:docMkLst>
      <pc:sldChg chg="addSp modSp mod ord">
        <pc:chgData name="gallabharath kumar" userId="d3f2b4679c814353" providerId="LiveId" clId="{CC261722-8624-4EFF-8543-51EC3408ACC7}" dt="2026-04-12T14:20:30.621" v="69" actId="1076"/>
        <pc:sldMkLst>
          <pc:docMk/>
          <pc:sldMk cId="0" sldId="256"/>
        </pc:sldMkLst>
        <pc:spChg chg="add mod">
          <ac:chgData name="gallabharath kumar" userId="d3f2b4679c814353" providerId="LiveId" clId="{CC261722-8624-4EFF-8543-51EC3408ACC7}" dt="2026-04-12T14:20:30.621" v="69" actId="1076"/>
          <ac:spMkLst>
            <pc:docMk/>
            <pc:sldMk cId="0" sldId="256"/>
            <ac:spMk id="5" creationId="{6538057E-D913-37B1-5B62-524218E3B368}"/>
          </ac:spMkLst>
        </pc:spChg>
      </pc:sldChg>
      <pc:sldChg chg="delSp modSp del mod">
        <pc:chgData name="gallabharath kumar" userId="d3f2b4679c814353" providerId="LiveId" clId="{CC261722-8624-4EFF-8543-51EC3408ACC7}" dt="2026-04-12T14:20:47.072" v="70" actId="2696"/>
        <pc:sldMkLst>
          <pc:docMk/>
          <pc:sldMk cId="0" sldId="261"/>
        </pc:sldMkLst>
        <pc:spChg chg="mod">
          <ac:chgData name="gallabharath kumar" userId="d3f2b4679c814353" providerId="LiveId" clId="{CC261722-8624-4EFF-8543-51EC3408ACC7}" dt="2026-04-12T14:06:00.316" v="42" actId="313"/>
          <ac:spMkLst>
            <pc:docMk/>
            <pc:sldMk cId="0" sldId="261"/>
            <ac:spMk id="2" creationId="{00000000-0000-0000-0000-000000000000}"/>
          </ac:spMkLst>
        </pc:spChg>
        <pc:spChg chg="del mod">
          <ac:chgData name="gallabharath kumar" userId="d3f2b4679c814353" providerId="LiveId" clId="{CC261722-8624-4EFF-8543-51EC3408ACC7}" dt="2026-04-12T13:59:30.337" v="5"/>
          <ac:spMkLst>
            <pc:docMk/>
            <pc:sldMk cId="0" sldId="261"/>
            <ac:spMk id="3" creationId="{00000000-0000-0000-0000-000000000000}"/>
          </ac:spMkLst>
        </pc:spChg>
      </pc:sldChg>
      <pc:sldChg chg="del">
        <pc:chgData name="gallabharath kumar" userId="d3f2b4679c814353" providerId="LiveId" clId="{CC261722-8624-4EFF-8543-51EC3408ACC7}" dt="2026-04-12T14:24:04.512" v="98" actId="2696"/>
        <pc:sldMkLst>
          <pc:docMk/>
          <pc:sldMk cId="0" sldId="265"/>
        </pc:sldMkLst>
      </pc:sldChg>
      <pc:sldChg chg="del">
        <pc:chgData name="gallabharath kumar" userId="d3f2b4679c814353" providerId="LiveId" clId="{CC261722-8624-4EFF-8543-51EC3408ACC7}" dt="2026-04-12T13:58:17.585" v="1" actId="2696"/>
        <pc:sldMkLst>
          <pc:docMk/>
          <pc:sldMk cId="1968812646" sldId="267"/>
        </pc:sldMkLst>
      </pc:sldChg>
      <pc:sldChg chg="addSp modSp add mod">
        <pc:chgData name="gallabharath kumar" userId="d3f2b4679c814353" providerId="LiveId" clId="{CC261722-8624-4EFF-8543-51EC3408ACC7}" dt="2026-04-12T14:22:37.822" v="97" actId="1076"/>
        <pc:sldMkLst>
          <pc:docMk/>
          <pc:sldMk cId="2672536378" sldId="268"/>
        </pc:sldMkLst>
        <pc:spChg chg="mod">
          <ac:chgData name="gallabharath kumar" userId="d3f2b4679c814353" providerId="LiveId" clId="{CC261722-8624-4EFF-8543-51EC3408ACC7}" dt="2026-04-12T13:58:38.131" v="2" actId="208"/>
          <ac:spMkLst>
            <pc:docMk/>
            <pc:sldMk cId="2672536378" sldId="268"/>
            <ac:spMk id="3" creationId="{5A34C67A-8EBF-AE98-72A8-F46F6E909962}"/>
          </ac:spMkLst>
        </pc:spChg>
        <pc:spChg chg="add mod">
          <ac:chgData name="gallabharath kumar" userId="d3f2b4679c814353" providerId="LiveId" clId="{CC261722-8624-4EFF-8543-51EC3408ACC7}" dt="2026-04-12T13:59:53.578" v="8"/>
          <ac:spMkLst>
            <pc:docMk/>
            <pc:sldMk cId="2672536378" sldId="268"/>
            <ac:spMk id="4" creationId="{EB76D4E2-C8AF-9CB1-25DD-44C48ABCBF9A}"/>
          </ac:spMkLst>
        </pc:spChg>
        <pc:spChg chg="add mod">
          <ac:chgData name="gallabharath kumar" userId="d3f2b4679c814353" providerId="LiveId" clId="{CC261722-8624-4EFF-8543-51EC3408ACC7}" dt="2026-04-12T14:00:04.482" v="9"/>
          <ac:spMkLst>
            <pc:docMk/>
            <pc:sldMk cId="2672536378" sldId="268"/>
            <ac:spMk id="7" creationId="{0C3F549B-F2E6-DEF8-ED64-6A66F0A6F67D}"/>
          </ac:spMkLst>
        </pc:spChg>
        <pc:spChg chg="add mod">
          <ac:chgData name="gallabharath kumar" userId="d3f2b4679c814353" providerId="LiveId" clId="{CC261722-8624-4EFF-8543-51EC3408ACC7}" dt="2026-04-12T14:22:37.822" v="97" actId="1076"/>
          <ac:spMkLst>
            <pc:docMk/>
            <pc:sldMk cId="2672536378" sldId="268"/>
            <ac:spMk id="9" creationId="{0AEE26EA-B92A-1E92-8E5A-7D67A9BB8F5D}"/>
          </ac:spMkLst>
        </pc:spChg>
        <pc:picChg chg="mod">
          <ac:chgData name="gallabharath kumar" userId="d3f2b4679c814353" providerId="LiveId" clId="{CC261722-8624-4EFF-8543-51EC3408ACC7}" dt="2026-04-12T14:21:29.930" v="84" actId="1076"/>
          <ac:picMkLst>
            <pc:docMk/>
            <pc:sldMk cId="2672536378" sldId="268"/>
            <ac:picMk id="8" creationId="{924EBE58-EC1E-8822-FC9E-1D174398AAB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3D0A39D-16F5-44C2-BAC2-B863BBB8A2C0}" type="datetimeFigureOut">
              <a:rPr lang="en-AE" smtClean="0"/>
              <a:t>12/04/2026</a:t>
            </a:fld>
            <a:endParaRPr lang="en-AE"/>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DCAF942-E829-4120-AD48-B055EE2C76C3}" type="slidenum">
              <a:rPr lang="en-AE" smtClean="0"/>
              <a:t>‹#›</a:t>
            </a:fld>
            <a:endParaRPr lang="en-AE"/>
          </a:p>
        </p:txBody>
      </p:sp>
    </p:spTree>
    <p:extLst>
      <p:ext uri="{BB962C8B-B14F-4D97-AF65-F5344CB8AC3E}">
        <p14:creationId xmlns:p14="http://schemas.microsoft.com/office/powerpoint/2010/main" val="459239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EDCAF942-E829-4120-AD48-B055EE2C76C3}" type="slidenum">
              <a:rPr lang="en-AE" smtClean="0"/>
              <a:t>3</a:t>
            </a:fld>
            <a:endParaRPr lang="en-AE"/>
          </a:p>
        </p:txBody>
      </p:sp>
    </p:spTree>
    <p:extLst>
      <p:ext uri="{BB962C8B-B14F-4D97-AF65-F5344CB8AC3E}">
        <p14:creationId xmlns:p14="http://schemas.microsoft.com/office/powerpoint/2010/main" val="2855497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DCAF942-E829-4120-AD48-B055EE2C76C3}" type="slidenum">
              <a:rPr lang="en-AE" smtClean="0"/>
              <a:t>5</a:t>
            </a:fld>
            <a:endParaRPr lang="en-AE"/>
          </a:p>
        </p:txBody>
      </p:sp>
    </p:spTree>
    <p:extLst>
      <p:ext uri="{BB962C8B-B14F-4D97-AF65-F5344CB8AC3E}">
        <p14:creationId xmlns:p14="http://schemas.microsoft.com/office/powerpoint/2010/main" val="4196945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000" b="0" i="0">
                <a:solidFill>
                  <a:schemeClr val="bg1"/>
                </a:solidFill>
                <a:latin typeface="Arial MT"/>
                <a:cs typeface="Arial M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000047"/>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4/12/2026</a:t>
            </a:fld>
            <a:endParaRPr lang="en-US"/>
          </a:p>
        </p:txBody>
      </p:sp>
      <p:sp>
        <p:nvSpPr>
          <p:cNvPr id="6" name="Holder 6"/>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t>‹#›</a:t>
            </a:fld>
            <a:endParaRPr spc="-50" dirty="0">
              <a:solidFill>
                <a:srgbClr val="FFFFF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2400" b="0" i="0">
                <a:solidFill>
                  <a:srgbClr val="000047"/>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4/12/2026</a:t>
            </a:fld>
            <a:endParaRPr lang="en-US"/>
          </a:p>
        </p:txBody>
      </p:sp>
      <p:sp>
        <p:nvSpPr>
          <p:cNvPr id="6" name="Holder 6"/>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t>‹#›</a:t>
            </a:fld>
            <a:endParaRPr spc="-50" dirty="0">
              <a:solidFill>
                <a:srgbClr val="FFFFFF"/>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MT"/>
                <a:cs typeface="Arial M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4/12/2026</a:t>
            </a:fld>
            <a:endParaRPr lang="en-US"/>
          </a:p>
        </p:txBody>
      </p:sp>
      <p:sp>
        <p:nvSpPr>
          <p:cNvPr id="7" name="Holder 7"/>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t>‹#›</a:t>
            </a:fld>
            <a:endParaRPr spc="-50" dirty="0">
              <a:solidFill>
                <a:srgbClr val="FFFFFF"/>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591673" y="6454063"/>
            <a:ext cx="1170431" cy="205447"/>
          </a:xfrm>
          <a:prstGeom prst="rect">
            <a:avLst/>
          </a:prstGeom>
        </p:spPr>
      </p:pic>
      <p:pic>
        <p:nvPicPr>
          <p:cNvPr id="17" name="bg object 17"/>
          <p:cNvPicPr/>
          <p:nvPr/>
        </p:nvPicPr>
        <p:blipFill>
          <a:blip r:embed="rId3" cstate="print"/>
          <a:stretch>
            <a:fillRect/>
          </a:stretch>
        </p:blipFill>
        <p:spPr>
          <a:xfrm>
            <a:off x="0" y="-2"/>
            <a:ext cx="12188951" cy="6858000"/>
          </a:xfrm>
          <a:prstGeom prst="rect">
            <a:avLst/>
          </a:prstGeom>
        </p:spPr>
      </p:pic>
      <p:sp>
        <p:nvSpPr>
          <p:cNvPr id="2" name="Holder 2"/>
          <p:cNvSpPr>
            <a:spLocks noGrp="1"/>
          </p:cNvSpPr>
          <p:nvPr>
            <p:ph type="title"/>
          </p:nvPr>
        </p:nvSpPr>
        <p:spPr/>
        <p:txBody>
          <a:bodyPr lIns="0" tIns="0" rIns="0" bIns="0"/>
          <a:lstStyle>
            <a:lvl1pPr>
              <a:defRPr sz="40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4/12/2026</a:t>
            </a:fld>
            <a:endParaRPr lang="en-US"/>
          </a:p>
        </p:txBody>
      </p:sp>
      <p:sp>
        <p:nvSpPr>
          <p:cNvPr id="5" name="Holder 5"/>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t>‹#›</a:t>
            </a:fld>
            <a:endParaRPr spc="-50" dirty="0">
              <a:solidFill>
                <a:srgbClr val="FFFFFF"/>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4/12/2026</a:t>
            </a:fld>
            <a:endParaRPr lang="en-US"/>
          </a:p>
        </p:txBody>
      </p:sp>
      <p:sp>
        <p:nvSpPr>
          <p:cNvPr id="4" name="Holder 4"/>
          <p:cNvSpPr>
            <a:spLocks noGrp="1"/>
          </p:cNvSpPr>
          <p:nvPr>
            <p:ph type="sldNum" sz="quarter" idx="7"/>
          </p:nvPr>
        </p:nvSpPr>
        <p:spPr/>
        <p:txBody>
          <a:bodyPr lIns="0" tIns="0" rIns="0" bIns="0"/>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t>‹#›</a:t>
            </a:fld>
            <a:endParaRPr spc="-50" dirty="0">
              <a:solidFill>
                <a:srgbClr val="FFFFFF"/>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591673" y="6454063"/>
            <a:ext cx="1170431" cy="205447"/>
          </a:xfrm>
          <a:prstGeom prst="rect">
            <a:avLst/>
          </a:prstGeom>
        </p:spPr>
      </p:pic>
      <p:sp>
        <p:nvSpPr>
          <p:cNvPr id="2" name="Holder 2"/>
          <p:cNvSpPr>
            <a:spLocks noGrp="1"/>
          </p:cNvSpPr>
          <p:nvPr>
            <p:ph type="title"/>
          </p:nvPr>
        </p:nvSpPr>
        <p:spPr>
          <a:xfrm>
            <a:off x="830681" y="220802"/>
            <a:ext cx="9289415" cy="966342"/>
          </a:xfrm>
          <a:prstGeom prst="rect">
            <a:avLst/>
          </a:prstGeom>
        </p:spPr>
        <p:txBody>
          <a:bodyPr wrap="square" lIns="0" tIns="0" rIns="0" bIns="0">
            <a:spAutoFit/>
          </a:bodyPr>
          <a:lstStyle>
            <a:lvl1pPr>
              <a:defRPr sz="4000" b="0" i="0">
                <a:solidFill>
                  <a:schemeClr val="bg1"/>
                </a:solidFill>
                <a:latin typeface="Arial MT"/>
                <a:cs typeface="Arial MT"/>
              </a:defRPr>
            </a:lvl1pPr>
          </a:lstStyle>
          <a:p>
            <a:endParaRPr/>
          </a:p>
        </p:txBody>
      </p:sp>
      <p:sp>
        <p:nvSpPr>
          <p:cNvPr id="3" name="Holder 3"/>
          <p:cNvSpPr>
            <a:spLocks noGrp="1"/>
          </p:cNvSpPr>
          <p:nvPr>
            <p:ph type="body" idx="1"/>
          </p:nvPr>
        </p:nvSpPr>
        <p:spPr>
          <a:xfrm>
            <a:off x="1320419" y="1304671"/>
            <a:ext cx="9819640" cy="3927475"/>
          </a:xfrm>
          <a:prstGeom prst="rect">
            <a:avLst/>
          </a:prstGeom>
        </p:spPr>
        <p:txBody>
          <a:bodyPr wrap="square" lIns="0" tIns="0" rIns="0" bIns="0">
            <a:spAutoFit/>
          </a:bodyPr>
          <a:lstStyle>
            <a:lvl1pPr>
              <a:defRPr sz="2400" b="0" i="0">
                <a:solidFill>
                  <a:srgbClr val="000047"/>
                </a:solidFill>
                <a:latin typeface="Arial MT"/>
                <a:cs typeface="Arial MT"/>
              </a:defRPr>
            </a:lvl1pPr>
          </a:lstStyle>
          <a:p>
            <a:endParaRPr/>
          </a:p>
        </p:txBody>
      </p:sp>
      <p:sp>
        <p:nvSpPr>
          <p:cNvPr id="4" name="Holder 4"/>
          <p:cNvSpPr>
            <a:spLocks noGrp="1"/>
          </p:cNvSpPr>
          <p:nvPr>
            <p:ph type="ftr" sz="quarter" idx="5"/>
          </p:nvPr>
        </p:nvSpPr>
        <p:spPr>
          <a:xfrm>
            <a:off x="993139" y="6441888"/>
            <a:ext cx="1423670" cy="139700"/>
          </a:xfrm>
          <a:prstGeom prst="rect">
            <a:avLst/>
          </a:prstGeom>
        </p:spPr>
        <p:txBody>
          <a:bodyPr wrap="square" lIns="0" tIns="0" rIns="0" bIns="0">
            <a:spAutoFit/>
          </a:bodyPr>
          <a:lstStyle>
            <a:lvl1pPr>
              <a:defRPr sz="700" b="0" i="0">
                <a:solidFill>
                  <a:srgbClr val="000047"/>
                </a:solidFill>
                <a:latin typeface="Arial MT"/>
                <a:cs typeface="Arial MT"/>
              </a:defRPr>
            </a:lvl1pPr>
          </a:lstStyle>
          <a:p>
            <a:pPr marL="12700">
              <a:lnSpc>
                <a:spcPct val="100000"/>
              </a:lnSpc>
              <a:spcBef>
                <a:spcPts val="30"/>
              </a:spcBef>
            </a:pPr>
            <a:r>
              <a:rPr dirty="0">
                <a:solidFill>
                  <a:srgbClr val="FFFFFF"/>
                </a:solidFill>
              </a:rPr>
              <a:t>©</a:t>
            </a:r>
            <a:r>
              <a:rPr spc="-35" dirty="0">
                <a:solidFill>
                  <a:srgbClr val="FFFFFF"/>
                </a:solidFill>
              </a:rPr>
              <a:t> </a:t>
            </a:r>
            <a:r>
              <a:rPr dirty="0">
                <a:solidFill>
                  <a:srgbClr val="FFFFFF"/>
                </a:solidFill>
              </a:rPr>
              <a:t>2026–2027 Cognizant</a:t>
            </a:r>
            <a:r>
              <a:rPr spc="-10" dirty="0">
                <a:solidFill>
                  <a:srgbClr val="FFFFFF"/>
                </a:solidFill>
              </a:rPr>
              <a:t> </a:t>
            </a:r>
            <a:r>
              <a:rPr dirty="0">
                <a:solidFill>
                  <a:srgbClr val="FFFFFF"/>
                </a:solidFill>
              </a:rPr>
              <a:t>|</a:t>
            </a:r>
            <a:r>
              <a:rPr spc="-30" dirty="0">
                <a:solidFill>
                  <a:srgbClr val="FFFFFF"/>
                </a:solidFill>
              </a:rPr>
              <a:t> </a:t>
            </a:r>
            <a:r>
              <a:rPr spc="-10" dirty="0">
                <a:solidFill>
                  <a:srgbClr val="FFFFFF"/>
                </a:solidFill>
              </a:rPr>
              <a:t>Private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4/12/2026</a:t>
            </a:fld>
            <a:endParaRPr lang="en-US"/>
          </a:p>
        </p:txBody>
      </p:sp>
      <p:sp>
        <p:nvSpPr>
          <p:cNvPr id="6" name="Holder 6"/>
          <p:cNvSpPr>
            <a:spLocks noGrp="1"/>
          </p:cNvSpPr>
          <p:nvPr>
            <p:ph type="sldNum" sz="quarter" idx="7"/>
          </p:nvPr>
        </p:nvSpPr>
        <p:spPr>
          <a:xfrm>
            <a:off x="419100" y="6457128"/>
            <a:ext cx="148590" cy="185419"/>
          </a:xfrm>
          <a:prstGeom prst="rect">
            <a:avLst/>
          </a:prstGeom>
        </p:spPr>
        <p:txBody>
          <a:bodyPr wrap="square" lIns="0" tIns="0" rIns="0" bIns="0">
            <a:spAutoFit/>
          </a:bodyPr>
          <a:lstStyle>
            <a:lvl1pPr>
              <a:defRPr sz="700" b="0" i="0">
                <a:solidFill>
                  <a:srgbClr val="000047"/>
                </a:solidFill>
                <a:latin typeface="Arial MT"/>
                <a:cs typeface="Arial MT"/>
              </a:defRPr>
            </a:lvl1pPr>
          </a:lstStyle>
          <a:p>
            <a:pPr marL="38100">
              <a:lnSpc>
                <a:spcPct val="100000"/>
              </a:lnSpc>
              <a:spcBef>
                <a:spcPts val="30"/>
              </a:spcBef>
            </a:pPr>
            <a:fld id="{81D60167-4931-47E6-BA6A-407CBD079E47}" type="slidenum">
              <a:rPr spc="-50" dirty="0">
                <a:solidFill>
                  <a:srgbClr val="FFFFFF"/>
                </a:solidFill>
              </a:rPr>
              <a:t>‹#›</a:t>
            </a:fld>
            <a:endParaRPr spc="-50"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74" y="-2"/>
            <a:ext cx="12189967" cy="6857998"/>
          </a:xfrm>
          <a:prstGeom prst="rect">
            <a:avLst/>
          </a:prstGeom>
        </p:spPr>
      </p:pic>
      <p:sp>
        <p:nvSpPr>
          <p:cNvPr id="3" name="object 3"/>
          <p:cNvSpPr txBox="1"/>
          <p:nvPr/>
        </p:nvSpPr>
        <p:spPr>
          <a:xfrm>
            <a:off x="444500" y="6457128"/>
            <a:ext cx="74930" cy="124460"/>
          </a:xfrm>
          <a:prstGeom prst="rect">
            <a:avLst/>
          </a:prstGeom>
        </p:spPr>
        <p:txBody>
          <a:bodyPr vert="horz" wrap="square" lIns="0" tIns="3810" rIns="0" bIns="0" rtlCol="0">
            <a:spAutoFit/>
          </a:bodyPr>
          <a:lstStyle/>
          <a:p>
            <a:pPr marL="12700">
              <a:lnSpc>
                <a:spcPct val="100000"/>
              </a:lnSpc>
              <a:spcBef>
                <a:spcPts val="30"/>
              </a:spcBef>
            </a:pPr>
            <a:r>
              <a:rPr sz="700" spc="-50" dirty="0">
                <a:solidFill>
                  <a:srgbClr val="000047"/>
                </a:solidFill>
                <a:latin typeface="Arial MT"/>
                <a:cs typeface="Arial MT"/>
              </a:rPr>
              <a:t>1</a:t>
            </a:r>
            <a:endParaRPr sz="700">
              <a:latin typeface="Arial MT"/>
              <a:cs typeface="Arial MT"/>
            </a:endParaRPr>
          </a:p>
        </p:txBody>
      </p:sp>
      <p:sp>
        <p:nvSpPr>
          <p:cNvPr id="4" name="object 4"/>
          <p:cNvSpPr txBox="1"/>
          <p:nvPr/>
        </p:nvSpPr>
        <p:spPr>
          <a:xfrm>
            <a:off x="993139" y="6457128"/>
            <a:ext cx="1332230" cy="124460"/>
          </a:xfrm>
          <a:prstGeom prst="rect">
            <a:avLst/>
          </a:prstGeom>
        </p:spPr>
        <p:txBody>
          <a:bodyPr vert="horz" wrap="square" lIns="0" tIns="3810" rIns="0" bIns="0" rtlCol="0">
            <a:spAutoFit/>
          </a:bodyPr>
          <a:lstStyle/>
          <a:p>
            <a:pPr marL="12700">
              <a:lnSpc>
                <a:spcPct val="100000"/>
              </a:lnSpc>
              <a:spcBef>
                <a:spcPts val="30"/>
              </a:spcBef>
            </a:pPr>
            <a:r>
              <a:rPr sz="700" dirty="0">
                <a:solidFill>
                  <a:srgbClr val="000047"/>
                </a:solidFill>
                <a:latin typeface="Arial MT"/>
                <a:cs typeface="Arial MT"/>
              </a:rPr>
              <a:t>©</a:t>
            </a:r>
            <a:r>
              <a:rPr sz="700" spc="-35" dirty="0">
                <a:solidFill>
                  <a:srgbClr val="000047"/>
                </a:solidFill>
                <a:latin typeface="Arial MT"/>
                <a:cs typeface="Arial MT"/>
              </a:rPr>
              <a:t> </a:t>
            </a:r>
            <a:r>
              <a:rPr sz="700" dirty="0">
                <a:solidFill>
                  <a:srgbClr val="000047"/>
                </a:solidFill>
                <a:latin typeface="Arial MT"/>
                <a:cs typeface="Arial MT"/>
              </a:rPr>
              <a:t>2025–2027 Cognizant</a:t>
            </a:r>
            <a:r>
              <a:rPr sz="700" spc="-10" dirty="0">
                <a:solidFill>
                  <a:srgbClr val="000047"/>
                </a:solidFill>
                <a:latin typeface="Arial MT"/>
                <a:cs typeface="Arial MT"/>
              </a:rPr>
              <a:t> </a:t>
            </a:r>
            <a:r>
              <a:rPr sz="700" dirty="0">
                <a:solidFill>
                  <a:srgbClr val="000047"/>
                </a:solidFill>
                <a:latin typeface="Arial MT"/>
                <a:cs typeface="Arial MT"/>
              </a:rPr>
              <a:t>|</a:t>
            </a:r>
            <a:r>
              <a:rPr sz="700" spc="-30" dirty="0">
                <a:solidFill>
                  <a:srgbClr val="000047"/>
                </a:solidFill>
                <a:latin typeface="Arial MT"/>
                <a:cs typeface="Arial MT"/>
              </a:rPr>
              <a:t> </a:t>
            </a:r>
            <a:r>
              <a:rPr sz="700" spc="-10" dirty="0">
                <a:solidFill>
                  <a:srgbClr val="000047"/>
                </a:solidFill>
                <a:latin typeface="Arial MT"/>
                <a:cs typeface="Arial MT"/>
              </a:rPr>
              <a:t>Private</a:t>
            </a:r>
            <a:endParaRPr sz="700">
              <a:latin typeface="Arial MT"/>
              <a:cs typeface="Arial MT"/>
            </a:endParaRPr>
          </a:p>
        </p:txBody>
      </p:sp>
      <p:sp>
        <p:nvSpPr>
          <p:cNvPr id="5" name="object 2">
            <a:extLst>
              <a:ext uri="{FF2B5EF4-FFF2-40B4-BE49-F238E27FC236}">
                <a16:creationId xmlns:a16="http://schemas.microsoft.com/office/drawing/2014/main" id="{6538057E-D913-37B1-5B62-524218E3B368}"/>
              </a:ext>
            </a:extLst>
          </p:cNvPr>
          <p:cNvSpPr txBox="1">
            <a:spLocks/>
          </p:cNvSpPr>
          <p:nvPr/>
        </p:nvSpPr>
        <p:spPr>
          <a:xfrm>
            <a:off x="1524000" y="1676400"/>
            <a:ext cx="6437884" cy="1243930"/>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4000" b="1" dirty="0">
                <a:solidFill>
                  <a:schemeClr val="bg1"/>
                </a:solidFill>
                <a:latin typeface="Times New Roman" panose="02020603050405020304" pitchFamily="18" charset="0"/>
                <a:cs typeface="Times New Roman" panose="02020603050405020304" pitchFamily="18" charset="0"/>
              </a:rPr>
              <a:t>Real-Time Fraud And Behavior Intelligence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1629" y="946442"/>
            <a:ext cx="11453495" cy="5814695"/>
            <a:chOff x="391629" y="946442"/>
            <a:chExt cx="11453495" cy="5814695"/>
          </a:xfrm>
        </p:grpSpPr>
        <p:pic>
          <p:nvPicPr>
            <p:cNvPr id="3" name="object 3"/>
            <p:cNvPicPr/>
            <p:nvPr/>
          </p:nvPicPr>
          <p:blipFill>
            <a:blip r:embed="rId2" cstate="print"/>
            <a:stretch>
              <a:fillRect/>
            </a:stretch>
          </p:blipFill>
          <p:spPr>
            <a:xfrm>
              <a:off x="10482452" y="6352477"/>
              <a:ext cx="1362075" cy="408431"/>
            </a:xfrm>
            <a:prstGeom prst="rect">
              <a:avLst/>
            </a:prstGeom>
          </p:spPr>
        </p:pic>
        <p:sp>
          <p:nvSpPr>
            <p:cNvPr id="4" name="object 4"/>
            <p:cNvSpPr/>
            <p:nvPr/>
          </p:nvSpPr>
          <p:spPr>
            <a:xfrm>
              <a:off x="391629" y="946442"/>
              <a:ext cx="11409045" cy="5417820"/>
            </a:xfrm>
            <a:custGeom>
              <a:avLst/>
              <a:gdLst/>
              <a:ahLst/>
              <a:cxnLst/>
              <a:rect l="l" t="t" r="r" b="b"/>
              <a:pathLst>
                <a:path w="11409045" h="5417820">
                  <a:moveTo>
                    <a:pt x="11408791" y="0"/>
                  </a:moveTo>
                  <a:lnTo>
                    <a:pt x="0" y="0"/>
                  </a:lnTo>
                  <a:lnTo>
                    <a:pt x="0" y="5417566"/>
                  </a:lnTo>
                  <a:lnTo>
                    <a:pt x="11408791" y="5417566"/>
                  </a:lnTo>
                  <a:lnTo>
                    <a:pt x="11408791" y="0"/>
                  </a:lnTo>
                  <a:close/>
                </a:path>
              </a:pathLst>
            </a:custGeom>
            <a:solidFill>
              <a:srgbClr val="F1F1F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5" name="object 5"/>
          <p:cNvSpPr txBox="1"/>
          <p:nvPr/>
        </p:nvSpPr>
        <p:spPr>
          <a:xfrm>
            <a:off x="1118412" y="343915"/>
            <a:ext cx="8432503" cy="382156"/>
          </a:xfrm>
          <a:prstGeom prst="rect">
            <a:avLst/>
          </a:prstGeom>
        </p:spPr>
        <p:txBody>
          <a:bodyPr vert="horz" wrap="square" lIns="0" tIns="12700" rIns="0" bIns="0" rtlCol="0">
            <a:spAutoFit/>
          </a:bodyPr>
          <a:lstStyle/>
          <a:p>
            <a:pPr marL="12700">
              <a:lnSpc>
                <a:spcPct val="100000"/>
              </a:lnSpc>
              <a:spcBef>
                <a:spcPts val="100"/>
              </a:spcBef>
            </a:pPr>
            <a:r>
              <a:rPr lang="en-US" b="1" dirty="0">
                <a:solidFill>
                  <a:srgbClr val="000047"/>
                </a:solidFill>
                <a:latin typeface="Times New Roman" panose="02020603050405020304" pitchFamily="18" charset="0"/>
                <a:cs typeface="Times New Roman" panose="02020603050405020304" pitchFamily="18" charset="0"/>
              </a:rPr>
              <a:t>Real-Time Fraud And Behavior Intelligence System</a:t>
            </a:r>
            <a:r>
              <a:rPr sz="1800" b="1" i="1" spc="-30" dirty="0">
                <a:solidFill>
                  <a:srgbClr val="000047"/>
                </a:solidFill>
                <a:latin typeface="Times New Roman" panose="02020603050405020304" pitchFamily="18" charset="0"/>
                <a:cs typeface="Times New Roman" panose="02020603050405020304" pitchFamily="18" charset="0"/>
              </a:rPr>
              <a:t> </a:t>
            </a:r>
            <a:r>
              <a:rPr sz="2400" b="1" dirty="0">
                <a:solidFill>
                  <a:srgbClr val="000047"/>
                </a:solidFill>
                <a:latin typeface="Times New Roman" panose="02020603050405020304" pitchFamily="18" charset="0"/>
                <a:cs typeface="Times New Roman" panose="02020603050405020304" pitchFamily="18" charset="0"/>
              </a:rPr>
              <a:t>|</a:t>
            </a:r>
            <a:r>
              <a:rPr sz="2400" b="1" spc="-50" dirty="0">
                <a:solidFill>
                  <a:srgbClr val="000047"/>
                </a:solidFill>
                <a:latin typeface="Times New Roman" panose="02020603050405020304" pitchFamily="18" charset="0"/>
                <a:cs typeface="Times New Roman" panose="02020603050405020304" pitchFamily="18" charset="0"/>
              </a:rPr>
              <a:t> </a:t>
            </a:r>
            <a:r>
              <a:rPr sz="2400" b="1" dirty="0">
                <a:solidFill>
                  <a:srgbClr val="000047"/>
                </a:solidFill>
                <a:latin typeface="Times New Roman" panose="02020603050405020304" pitchFamily="18" charset="0"/>
                <a:cs typeface="Times New Roman" panose="02020603050405020304" pitchFamily="18" charset="0"/>
              </a:rPr>
              <a:t>Business</a:t>
            </a:r>
            <a:r>
              <a:rPr sz="2400" b="1" spc="-55" dirty="0">
                <a:solidFill>
                  <a:srgbClr val="000047"/>
                </a:solidFill>
                <a:latin typeface="Times New Roman" panose="02020603050405020304" pitchFamily="18" charset="0"/>
                <a:cs typeface="Times New Roman" panose="02020603050405020304" pitchFamily="18" charset="0"/>
              </a:rPr>
              <a:t> </a:t>
            </a:r>
            <a:r>
              <a:rPr sz="2400" b="1" dirty="0">
                <a:solidFill>
                  <a:srgbClr val="000047"/>
                </a:solidFill>
                <a:latin typeface="Times New Roman" panose="02020603050405020304" pitchFamily="18" charset="0"/>
                <a:cs typeface="Times New Roman" panose="02020603050405020304" pitchFamily="18" charset="0"/>
              </a:rPr>
              <a:t>Plan</a:t>
            </a:r>
            <a:r>
              <a:rPr sz="2400" b="1" spc="-65" dirty="0">
                <a:solidFill>
                  <a:srgbClr val="000047"/>
                </a:solidFill>
                <a:latin typeface="Times New Roman" panose="02020603050405020304" pitchFamily="18" charset="0"/>
                <a:cs typeface="Times New Roman" panose="02020603050405020304" pitchFamily="18" charset="0"/>
              </a:rPr>
              <a:t> </a:t>
            </a:r>
            <a:r>
              <a:rPr sz="2400" b="1" spc="-10" dirty="0">
                <a:solidFill>
                  <a:srgbClr val="000047"/>
                </a:solidFill>
                <a:latin typeface="Times New Roman" panose="02020603050405020304" pitchFamily="18" charset="0"/>
                <a:cs typeface="Times New Roman" panose="02020603050405020304" pitchFamily="18" charset="0"/>
              </a:rPr>
              <a:t>(1/2)</a:t>
            </a:r>
            <a:endParaRPr sz="2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3122637" y="1015115"/>
            <a:ext cx="8265159" cy="3209340"/>
          </a:xfrm>
          <a:prstGeom prst="rect">
            <a:avLst/>
          </a:prstGeom>
          <a:solidFill>
            <a:srgbClr val="F1F1F1"/>
          </a:solidFill>
          <a:ln w="25400">
            <a:solidFill>
              <a:srgbClr val="D9D9D9"/>
            </a:solidFill>
          </a:ln>
        </p:spPr>
        <p:txBody>
          <a:bodyPr vert="horz" wrap="square" lIns="0" tIns="41275" rIns="0" bIns="0" rtlCol="0">
            <a:spAutoFit/>
          </a:bodyPr>
          <a:lstStyle/>
          <a:p>
            <a:pPr marL="91440" algn="just">
              <a:lnSpc>
                <a:spcPct val="150000"/>
              </a:lnSpc>
              <a:spcBef>
                <a:spcPts val="325"/>
              </a:spcBef>
            </a:pPr>
            <a:r>
              <a:rPr sz="1200" b="1" dirty="0">
                <a:solidFill>
                  <a:srgbClr val="000047"/>
                </a:solidFill>
                <a:latin typeface="Times New Roman" panose="02020603050405020304" pitchFamily="18" charset="0"/>
                <a:cs typeface="Times New Roman" panose="02020603050405020304" pitchFamily="18" charset="0"/>
              </a:rPr>
              <a:t>Problem</a:t>
            </a:r>
            <a:r>
              <a:rPr sz="1200" b="1" spc="-45" dirty="0">
                <a:solidFill>
                  <a:srgbClr val="000047"/>
                </a:solidFill>
                <a:latin typeface="Times New Roman" panose="02020603050405020304" pitchFamily="18" charset="0"/>
                <a:cs typeface="Times New Roman" panose="02020603050405020304" pitchFamily="18" charset="0"/>
              </a:rPr>
              <a:t> </a:t>
            </a:r>
            <a:r>
              <a:rPr sz="1200" b="1" dirty="0">
                <a:solidFill>
                  <a:srgbClr val="000047"/>
                </a:solidFill>
                <a:latin typeface="Times New Roman" panose="02020603050405020304" pitchFamily="18" charset="0"/>
                <a:cs typeface="Times New Roman" panose="02020603050405020304" pitchFamily="18" charset="0"/>
              </a:rPr>
              <a:t>Description</a:t>
            </a:r>
            <a:r>
              <a:rPr sz="1200" b="1" spc="-45" dirty="0">
                <a:solidFill>
                  <a:srgbClr val="000047"/>
                </a:solidFill>
                <a:latin typeface="Times New Roman" panose="02020603050405020304" pitchFamily="18" charset="0"/>
                <a:cs typeface="Times New Roman" panose="02020603050405020304" pitchFamily="18" charset="0"/>
              </a:rPr>
              <a:t> </a:t>
            </a:r>
            <a:r>
              <a:rPr sz="1200" b="1" dirty="0">
                <a:solidFill>
                  <a:srgbClr val="000047"/>
                </a:solidFill>
                <a:latin typeface="Times New Roman" panose="02020603050405020304" pitchFamily="18" charset="0"/>
                <a:cs typeface="Times New Roman" panose="02020603050405020304" pitchFamily="18" charset="0"/>
              </a:rPr>
              <a:t>&amp;</a:t>
            </a:r>
            <a:r>
              <a:rPr sz="1200" b="1" spc="-35" dirty="0">
                <a:solidFill>
                  <a:srgbClr val="000047"/>
                </a:solidFill>
                <a:latin typeface="Times New Roman" panose="02020603050405020304" pitchFamily="18" charset="0"/>
                <a:cs typeface="Times New Roman" panose="02020603050405020304" pitchFamily="18" charset="0"/>
              </a:rPr>
              <a:t> </a:t>
            </a:r>
            <a:r>
              <a:rPr sz="1200" b="1" dirty="0">
                <a:solidFill>
                  <a:srgbClr val="000047"/>
                </a:solidFill>
                <a:latin typeface="Times New Roman" panose="02020603050405020304" pitchFamily="18" charset="0"/>
                <a:cs typeface="Times New Roman" panose="02020603050405020304" pitchFamily="18" charset="0"/>
              </a:rPr>
              <a:t>Business</a:t>
            </a:r>
            <a:r>
              <a:rPr sz="1200" b="1" spc="-50" dirty="0">
                <a:solidFill>
                  <a:srgbClr val="000047"/>
                </a:solidFill>
                <a:latin typeface="Times New Roman" panose="02020603050405020304" pitchFamily="18" charset="0"/>
                <a:cs typeface="Times New Roman" panose="02020603050405020304" pitchFamily="18" charset="0"/>
              </a:rPr>
              <a:t> </a:t>
            </a:r>
            <a:r>
              <a:rPr sz="1200" b="1" dirty="0">
                <a:solidFill>
                  <a:srgbClr val="000047"/>
                </a:solidFill>
                <a:latin typeface="Times New Roman" panose="02020603050405020304" pitchFamily="18" charset="0"/>
                <a:cs typeface="Times New Roman" panose="02020603050405020304" pitchFamily="18" charset="0"/>
              </a:rPr>
              <a:t>Scenario</a:t>
            </a:r>
            <a:r>
              <a:rPr sz="1200" b="1" spc="-40" dirty="0">
                <a:solidFill>
                  <a:srgbClr val="000047"/>
                </a:solidFill>
                <a:latin typeface="Times New Roman" panose="02020603050405020304" pitchFamily="18" charset="0"/>
                <a:cs typeface="Times New Roman" panose="02020603050405020304" pitchFamily="18" charset="0"/>
              </a:rPr>
              <a:t> </a:t>
            </a:r>
            <a:r>
              <a:rPr sz="1200" spc="-50" dirty="0">
                <a:solidFill>
                  <a:srgbClr val="000047"/>
                </a:solidFill>
                <a:latin typeface="Times New Roman" panose="02020603050405020304" pitchFamily="18" charset="0"/>
                <a:cs typeface="Times New Roman" panose="02020603050405020304" pitchFamily="18" charset="0"/>
              </a:rPr>
              <a:t>:</a:t>
            </a:r>
            <a:endParaRPr lang="en-US" sz="1200" spc="-50" dirty="0">
              <a:solidFill>
                <a:srgbClr val="000047"/>
              </a:solidFill>
              <a:latin typeface="Times New Roman" panose="02020603050405020304" pitchFamily="18" charset="0"/>
              <a:cs typeface="Times New Roman" panose="02020603050405020304" pitchFamily="18" charset="0"/>
            </a:endParaRPr>
          </a:p>
          <a:p>
            <a:pPr marL="91440" algn="just">
              <a:lnSpc>
                <a:spcPct val="150000"/>
              </a:lnSpc>
              <a:spcBef>
                <a:spcPts val="325"/>
              </a:spcBef>
            </a:pPr>
            <a:r>
              <a:rPr lang="en-US" sz="1200" dirty="0">
                <a:latin typeface="Times New Roman" panose="02020603050405020304" pitchFamily="18" charset="0"/>
                <a:cs typeface="Times New Roman" panose="02020603050405020304" pitchFamily="18" charset="0"/>
              </a:rPr>
              <a:t>Due to an increase in online transaction activity and cashless payment transactions, digital banking fraud is becoming more common. The conventional method for identifying fraud is reactive and based on predefined rules, which makes it difficult to cope with changing fraud patterns. In addition, there is lack of transparency among customers when their transactions are flagged as frauds.</a:t>
            </a:r>
          </a:p>
          <a:p>
            <a:pPr marL="91440" algn="just">
              <a:lnSpc>
                <a:spcPct val="150000"/>
              </a:lnSpc>
              <a:spcBef>
                <a:spcPts val="325"/>
              </a:spcBef>
            </a:pPr>
            <a:r>
              <a:rPr sz="1200" b="1" dirty="0">
                <a:solidFill>
                  <a:srgbClr val="000047"/>
                </a:solidFill>
                <a:latin typeface="Times New Roman" panose="02020603050405020304" pitchFamily="18" charset="0"/>
                <a:cs typeface="Times New Roman" panose="02020603050405020304" pitchFamily="18" charset="0"/>
              </a:rPr>
              <a:t>Problem</a:t>
            </a:r>
            <a:r>
              <a:rPr sz="1200" b="1" spc="-60" dirty="0">
                <a:solidFill>
                  <a:srgbClr val="000047"/>
                </a:solidFill>
                <a:latin typeface="Times New Roman" panose="02020603050405020304" pitchFamily="18" charset="0"/>
                <a:cs typeface="Times New Roman" panose="02020603050405020304" pitchFamily="18" charset="0"/>
              </a:rPr>
              <a:t> </a:t>
            </a:r>
            <a:r>
              <a:rPr sz="1200" b="1" spc="-10" dirty="0">
                <a:solidFill>
                  <a:srgbClr val="000047"/>
                </a:solidFill>
                <a:latin typeface="Times New Roman" panose="02020603050405020304" pitchFamily="18" charset="0"/>
                <a:cs typeface="Times New Roman" panose="02020603050405020304" pitchFamily="18" charset="0"/>
              </a:rPr>
              <a:t>Scope</a:t>
            </a:r>
            <a:r>
              <a:rPr sz="1200" spc="-10" dirty="0">
                <a:solidFill>
                  <a:srgbClr val="000047"/>
                </a:solidFill>
                <a:latin typeface="Times New Roman" panose="02020603050405020304" pitchFamily="18" charset="0"/>
                <a:cs typeface="Times New Roman" panose="02020603050405020304" pitchFamily="18" charset="0"/>
              </a:rPr>
              <a:t>:</a:t>
            </a:r>
            <a:endParaRPr lang="en-US" sz="1200" spc="-10" dirty="0">
              <a:solidFill>
                <a:srgbClr val="000047"/>
              </a:solidFill>
              <a:latin typeface="Times New Roman" panose="02020603050405020304" pitchFamily="18" charset="0"/>
              <a:cs typeface="Times New Roman" panose="02020603050405020304" pitchFamily="18" charset="0"/>
            </a:endParaRPr>
          </a:p>
          <a:p>
            <a:pPr marL="91440" algn="just">
              <a:lnSpc>
                <a:spcPct val="150000"/>
              </a:lnSpc>
              <a:spcBef>
                <a:spcPts val="325"/>
              </a:spcBef>
            </a:pPr>
            <a:r>
              <a:rPr lang="en-US" sz="1200" dirty="0">
                <a:latin typeface="Times New Roman" panose="02020603050405020304" pitchFamily="18" charset="0"/>
                <a:cs typeface="Times New Roman" panose="02020603050405020304" pitchFamily="18" charset="0"/>
              </a:rPr>
              <a:t>The proposed problem addresses the detection of fraud transaction patterns at the transaction level. It will not be used to detect any sort of interbank fraud activities.</a:t>
            </a:r>
          </a:p>
          <a:p>
            <a:pPr marL="91440" algn="just">
              <a:lnSpc>
                <a:spcPct val="150000"/>
              </a:lnSpc>
              <a:spcBef>
                <a:spcPts val="325"/>
              </a:spcBef>
            </a:pPr>
            <a:r>
              <a:rPr sz="1200" b="1" spc="-10" dirty="0">
                <a:solidFill>
                  <a:srgbClr val="000047"/>
                </a:solidFill>
                <a:latin typeface="Times New Roman" panose="02020603050405020304" pitchFamily="18" charset="0"/>
                <a:cs typeface="Times New Roman" panose="02020603050405020304" pitchFamily="18" charset="0"/>
              </a:rPr>
              <a:t>Target</a:t>
            </a:r>
            <a:r>
              <a:rPr sz="1200" b="1" spc="-65" dirty="0">
                <a:solidFill>
                  <a:srgbClr val="000047"/>
                </a:solidFill>
                <a:latin typeface="Times New Roman" panose="02020603050405020304" pitchFamily="18" charset="0"/>
                <a:cs typeface="Times New Roman" panose="02020603050405020304" pitchFamily="18" charset="0"/>
              </a:rPr>
              <a:t> </a:t>
            </a:r>
            <a:r>
              <a:rPr sz="1200" b="1" spc="-10" dirty="0">
                <a:solidFill>
                  <a:srgbClr val="000047"/>
                </a:solidFill>
                <a:latin typeface="Times New Roman" panose="02020603050405020304" pitchFamily="18" charset="0"/>
                <a:cs typeface="Times New Roman" panose="02020603050405020304" pitchFamily="18" charset="0"/>
              </a:rPr>
              <a:t>Users/Stakeholders:</a:t>
            </a:r>
            <a:endParaRPr lang="en-US" sz="1200" b="1" spc="-10" dirty="0">
              <a:solidFill>
                <a:srgbClr val="000047"/>
              </a:solidFill>
              <a:latin typeface="Times New Roman" panose="02020603050405020304" pitchFamily="18" charset="0"/>
              <a:cs typeface="Times New Roman" panose="02020603050405020304" pitchFamily="18" charset="0"/>
            </a:endParaRPr>
          </a:p>
          <a:p>
            <a:pPr marL="91440" algn="just">
              <a:lnSpc>
                <a:spcPct val="150000"/>
              </a:lnSpc>
            </a:pPr>
            <a:r>
              <a:rPr lang="en-US" sz="1200" dirty="0">
                <a:latin typeface="Times New Roman" panose="02020603050405020304" pitchFamily="18" charset="0"/>
                <a:cs typeface="Times New Roman" panose="02020603050405020304" pitchFamily="18" charset="0"/>
              </a:rPr>
              <a:t>Banks and other financial organizations can prevent fraud in real-time, while the fintech platforms can ensure the safety of transactions for their customers.</a:t>
            </a:r>
          </a:p>
          <a:p>
            <a:pPr marL="91440" algn="just">
              <a:lnSpc>
                <a:spcPct val="150000"/>
              </a:lnSpc>
            </a:pPr>
            <a:r>
              <a:rPr lang="en-US" sz="1200" i="1" dirty="0">
                <a:latin typeface="Times New Roman" panose="02020603050405020304" pitchFamily="18" charset="0"/>
                <a:cs typeface="Times New Roman" panose="02020603050405020304" pitchFamily="18" charset="0"/>
              </a:rPr>
              <a:t>“Current systems detect fraud but fail to explain and prevent it effectively.”</a:t>
            </a:r>
          </a:p>
        </p:txBody>
      </p:sp>
      <p:sp>
        <p:nvSpPr>
          <p:cNvPr id="7" name="object 7"/>
          <p:cNvSpPr txBox="1"/>
          <p:nvPr/>
        </p:nvSpPr>
        <p:spPr>
          <a:xfrm>
            <a:off x="695540" y="2118235"/>
            <a:ext cx="2014220" cy="527067"/>
          </a:xfrm>
          <a:prstGeom prst="rect">
            <a:avLst/>
          </a:prstGeom>
          <a:solidFill>
            <a:srgbClr val="000047"/>
          </a:solidFill>
        </p:spPr>
        <p:txBody>
          <a:bodyPr vert="horz" wrap="square" lIns="0" tIns="34290" rIns="0" bIns="0" rtlCol="0">
            <a:spAutoFit/>
          </a:bodyPr>
          <a:lstStyle/>
          <a:p>
            <a:pPr marL="532130">
              <a:lnSpc>
                <a:spcPct val="100000"/>
              </a:lnSpc>
              <a:spcBef>
                <a:spcPts val="270"/>
              </a:spcBef>
            </a:pPr>
            <a:r>
              <a:rPr sz="3200" b="1" spc="-25" dirty="0">
                <a:solidFill>
                  <a:srgbClr val="FFFFFF"/>
                </a:solidFill>
                <a:latin typeface="Times New Roman" panose="02020603050405020304" pitchFamily="18" charset="0"/>
                <a:cs typeface="Times New Roman" panose="02020603050405020304" pitchFamily="18" charset="0"/>
              </a:rPr>
              <a:t>WHY</a:t>
            </a:r>
            <a:endParaRPr sz="3200" dirty="0">
              <a:latin typeface="Times New Roman" panose="02020603050405020304" pitchFamily="18" charset="0"/>
              <a:cs typeface="Times New Roman" panose="02020603050405020304" pitchFamily="18" charset="0"/>
            </a:endParaRPr>
          </a:p>
        </p:txBody>
      </p:sp>
      <p:sp>
        <p:nvSpPr>
          <p:cNvPr id="9" name="object 9"/>
          <p:cNvSpPr txBox="1"/>
          <p:nvPr/>
        </p:nvSpPr>
        <p:spPr>
          <a:xfrm>
            <a:off x="567690" y="4334640"/>
            <a:ext cx="8699500" cy="1984967"/>
          </a:xfrm>
          <a:prstGeom prst="rect">
            <a:avLst/>
          </a:prstGeom>
          <a:solidFill>
            <a:srgbClr val="F1F1F1"/>
          </a:solidFill>
          <a:ln w="25400">
            <a:solidFill>
              <a:srgbClr val="D9D9D9"/>
            </a:solidFill>
          </a:ln>
        </p:spPr>
        <p:txBody>
          <a:bodyPr vert="horz" wrap="square" lIns="0" tIns="41275" rIns="0" bIns="0" rtlCol="0">
            <a:spAutoFit/>
          </a:bodyPr>
          <a:lstStyle/>
          <a:p>
            <a:pPr marL="91440">
              <a:lnSpc>
                <a:spcPct val="150000"/>
              </a:lnSpc>
              <a:spcBef>
                <a:spcPts val="325"/>
              </a:spcBef>
            </a:pPr>
            <a:r>
              <a:rPr lang="en-US" sz="1200" b="1" dirty="0">
                <a:solidFill>
                  <a:srgbClr val="000047"/>
                </a:solidFill>
                <a:latin typeface="Times New Roman" panose="02020603050405020304" pitchFamily="18" charset="0"/>
                <a:cs typeface="Times New Roman" panose="02020603050405020304" pitchFamily="18" charset="0"/>
              </a:rPr>
              <a:t>Solution</a:t>
            </a:r>
            <a:r>
              <a:rPr lang="en-US" sz="1200" b="1" spc="-25" dirty="0">
                <a:solidFill>
                  <a:srgbClr val="000047"/>
                </a:solidFill>
                <a:latin typeface="Times New Roman" panose="02020603050405020304" pitchFamily="18" charset="0"/>
                <a:cs typeface="Times New Roman" panose="02020603050405020304" pitchFamily="18" charset="0"/>
              </a:rPr>
              <a:t> </a:t>
            </a:r>
            <a:r>
              <a:rPr lang="en-US" sz="1200" b="1" spc="-10" dirty="0">
                <a:solidFill>
                  <a:srgbClr val="000047"/>
                </a:solidFill>
                <a:latin typeface="Times New Roman" panose="02020603050405020304" pitchFamily="18" charset="0"/>
                <a:cs typeface="Times New Roman" panose="02020603050405020304" pitchFamily="18" charset="0"/>
              </a:rPr>
              <a:t>Overview</a:t>
            </a:r>
            <a:r>
              <a:rPr lang="en-US" sz="1200" spc="-10" dirty="0">
                <a:solidFill>
                  <a:srgbClr val="000047"/>
                </a:solidFill>
                <a:latin typeface="Times New Roman" panose="02020603050405020304" pitchFamily="18" charset="0"/>
                <a:cs typeface="Times New Roman" panose="02020603050405020304" pitchFamily="18" charset="0"/>
              </a:rPr>
              <a:t>: </a:t>
            </a:r>
          </a:p>
          <a:p>
            <a:pPr>
              <a:lnSpc>
                <a:spcPct val="150000"/>
              </a:lnSpc>
            </a:pPr>
            <a:r>
              <a:rPr lang="en-US" sz="1200" dirty="0">
                <a:latin typeface="Times New Roman" panose="02020603050405020304" pitchFamily="18" charset="0"/>
                <a:cs typeface="Times New Roman" panose="02020603050405020304" pitchFamily="18" charset="0"/>
              </a:rPr>
              <a:t>  We propose a Real-Time Fraud + Behavior Intelligence System that uses machine learning and user behavior analysis to </a:t>
            </a:r>
          </a:p>
          <a:p>
            <a:pPr>
              <a:lnSpc>
                <a:spcPct val="150000"/>
              </a:lnSpc>
            </a:pPr>
            <a:r>
              <a:rPr lang="en-US" sz="1200" dirty="0">
                <a:latin typeface="Times New Roman" panose="02020603050405020304" pitchFamily="18" charset="0"/>
                <a:cs typeface="Times New Roman" panose="02020603050405020304" pitchFamily="18" charset="0"/>
              </a:rPr>
              <a:t>  detect fraudulent transactions instantly and take immediate action.</a:t>
            </a:r>
          </a:p>
          <a:p>
            <a:pPr marL="91440" marR="7224395">
              <a:lnSpc>
                <a:spcPct val="150000"/>
              </a:lnSpc>
              <a:spcBef>
                <a:spcPts val="325"/>
              </a:spcBef>
            </a:pPr>
            <a:r>
              <a:rPr lang="en-US" sz="1200" b="1" spc="-10" dirty="0">
                <a:solidFill>
                  <a:srgbClr val="000047"/>
                </a:solidFill>
                <a:latin typeface="Times New Roman" panose="02020603050405020304" pitchFamily="18" charset="0"/>
                <a:cs typeface="Times New Roman" panose="02020603050405020304" pitchFamily="18" charset="0"/>
              </a:rPr>
              <a:t>Technical</a:t>
            </a:r>
            <a:r>
              <a:rPr lang="en-US" sz="1200" b="1" spc="-65" dirty="0">
                <a:solidFill>
                  <a:srgbClr val="000047"/>
                </a:solidFill>
                <a:latin typeface="Times New Roman" panose="02020603050405020304" pitchFamily="18" charset="0"/>
                <a:cs typeface="Times New Roman" panose="02020603050405020304" pitchFamily="18" charset="0"/>
              </a:rPr>
              <a:t> </a:t>
            </a:r>
            <a:r>
              <a:rPr lang="en-US" sz="1200" b="1" spc="-10" dirty="0">
                <a:solidFill>
                  <a:srgbClr val="000047"/>
                </a:solidFill>
                <a:latin typeface="Times New Roman" panose="02020603050405020304" pitchFamily="18" charset="0"/>
                <a:cs typeface="Times New Roman" panose="02020603050405020304" pitchFamily="18" charset="0"/>
              </a:rPr>
              <a:t>Details</a:t>
            </a:r>
            <a:r>
              <a:rPr lang="en-US" sz="1200" spc="-10" dirty="0">
                <a:solidFill>
                  <a:srgbClr val="000047"/>
                </a:solidFill>
                <a:latin typeface="Times New Roman" panose="02020603050405020304" pitchFamily="18" charset="0"/>
                <a:cs typeface="Times New Roman" panose="02020603050405020304" pitchFamily="18" charset="0"/>
              </a:rPr>
              <a:t>:</a:t>
            </a:r>
          </a:p>
          <a:p>
            <a:pPr lvl="1" algn="l" rtl="0" eaLnBrk="0" fontAlgn="base" hangingPunct="0">
              <a:lnSpc>
                <a:spcPct val="150000"/>
              </a:lnSpc>
              <a:spcBef>
                <a:spcPct val="0"/>
              </a:spcBef>
              <a:spcAft>
                <a:spcPct val="0"/>
              </a:spcAft>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Models: Random Forest / Logistic Regression </a:t>
            </a:r>
          </a:p>
          <a:p>
            <a:pPr lvl="1" algn="l" rtl="0" eaLnBrk="0" fontAlgn="base" hangingPunct="0">
              <a:lnSpc>
                <a:spcPct val="150000"/>
              </a:lnSpc>
              <a:spcBef>
                <a:spcPct val="0"/>
              </a:spcBef>
              <a:spcAft>
                <a:spcPct val="0"/>
              </a:spcAft>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Python (Flask) , Frontend: Web-based dashboard </a:t>
            </a:r>
          </a:p>
          <a:p>
            <a:pPr lvl="1" algn="l" rtl="0" eaLnBrk="0" fontAlgn="base" hangingPunct="0">
              <a:lnSpc>
                <a:spcPct val="150000"/>
              </a:lnSpc>
              <a:spcBef>
                <a:spcPct val="0"/>
              </a:spcBef>
              <a:spcAft>
                <a:spcPct val="0"/>
              </a:spcAft>
              <a:buFontTx/>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Inputs: Transaction history, location, spending patterns and Real-time API for transaction processing </a:t>
            </a:r>
            <a:endParaRPr lang="en-US" sz="1200" dirty="0">
              <a:latin typeface="Times New Roman" panose="02020603050405020304" pitchFamily="18" charset="0"/>
              <a:cs typeface="Times New Roman" panose="02020603050405020304" pitchFamily="18" charset="0"/>
            </a:endParaRPr>
          </a:p>
        </p:txBody>
      </p:sp>
      <p:sp>
        <p:nvSpPr>
          <p:cNvPr id="10" name="object 10"/>
          <p:cNvSpPr txBox="1"/>
          <p:nvPr/>
        </p:nvSpPr>
        <p:spPr>
          <a:xfrm>
            <a:off x="9443251" y="4953000"/>
            <a:ext cx="2014220" cy="527067"/>
          </a:xfrm>
          <a:prstGeom prst="rect">
            <a:avLst/>
          </a:prstGeom>
          <a:solidFill>
            <a:srgbClr val="000047"/>
          </a:solidFill>
        </p:spPr>
        <p:txBody>
          <a:bodyPr vert="horz" wrap="square" lIns="0" tIns="34290" rIns="0" bIns="0" rtlCol="0">
            <a:spAutoFit/>
          </a:bodyPr>
          <a:lstStyle/>
          <a:p>
            <a:pPr marL="577215">
              <a:lnSpc>
                <a:spcPct val="100000"/>
              </a:lnSpc>
              <a:spcBef>
                <a:spcPts val="270"/>
              </a:spcBef>
            </a:pPr>
            <a:r>
              <a:rPr sz="3200" b="1" spc="-25" dirty="0">
                <a:solidFill>
                  <a:srgbClr val="FFFFFF"/>
                </a:solidFill>
                <a:latin typeface="Times New Roman" panose="02020603050405020304" pitchFamily="18" charset="0"/>
                <a:cs typeface="Times New Roman" panose="02020603050405020304" pitchFamily="18" charset="0"/>
              </a:rPr>
              <a:t>How</a:t>
            </a:r>
            <a:endParaRPr sz="3200" dirty="0">
              <a:latin typeface="Times New Roman" panose="02020603050405020304" pitchFamily="18" charset="0"/>
              <a:cs typeface="Times New Roman" panose="02020603050405020304" pitchFamily="18" charset="0"/>
            </a:endParaRPr>
          </a:p>
        </p:txBody>
      </p:sp>
      <p:sp>
        <p:nvSpPr>
          <p:cNvPr id="13" name="object 13"/>
          <p:cNvSpPr txBox="1"/>
          <p:nvPr/>
        </p:nvSpPr>
        <p:spPr>
          <a:xfrm>
            <a:off x="913587" y="5804103"/>
            <a:ext cx="1394460" cy="228268"/>
          </a:xfrm>
          <a:prstGeom prst="rect">
            <a:avLst/>
          </a:prstGeom>
        </p:spPr>
        <p:txBody>
          <a:bodyPr vert="horz" wrap="square" lIns="0" tIns="12700" rIns="0" bIns="0" rtlCol="0">
            <a:spAutoFit/>
          </a:bodyPr>
          <a:lstStyle/>
          <a:p>
            <a:pPr marL="12700">
              <a:lnSpc>
                <a:spcPct val="100000"/>
              </a:lnSpc>
              <a:spcBef>
                <a:spcPts val="100"/>
              </a:spcBef>
            </a:pPr>
            <a:endParaRPr sz="1400" dirty="0">
              <a:latin typeface="Times New Roman" panose="02020603050405020304" pitchFamily="18" charset="0"/>
              <a:cs typeface="Times New Roman" panose="02020603050405020304" pitchFamily="18" charset="0"/>
            </a:endParaRPr>
          </a:p>
        </p:txBody>
      </p:sp>
      <p:sp>
        <p:nvSpPr>
          <p:cNvPr id="14" name="object 14"/>
          <p:cNvSpPr/>
          <p:nvPr/>
        </p:nvSpPr>
        <p:spPr>
          <a:xfrm>
            <a:off x="639066" y="265582"/>
            <a:ext cx="0" cy="52705"/>
          </a:xfrm>
          <a:custGeom>
            <a:avLst/>
            <a:gdLst/>
            <a:ahLst/>
            <a:cxnLst/>
            <a:rect l="l" t="t" r="r" b="b"/>
            <a:pathLst>
              <a:path h="52704">
                <a:moveTo>
                  <a:pt x="0" y="0"/>
                </a:moveTo>
                <a:lnTo>
                  <a:pt x="0" y="52231"/>
                </a:lnTo>
              </a:path>
            </a:pathLst>
          </a:custGeom>
          <a:ln w="19815">
            <a:solidFill>
              <a:srgbClr val="000047"/>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nvGrpSpPr>
          <p:cNvPr id="15" name="object 15"/>
          <p:cNvGrpSpPr/>
          <p:nvPr/>
        </p:nvGrpSpPr>
        <p:grpSpPr>
          <a:xfrm>
            <a:off x="429458" y="327830"/>
            <a:ext cx="408940" cy="525780"/>
            <a:chOff x="429458" y="327830"/>
            <a:chExt cx="408940" cy="525780"/>
          </a:xfrm>
        </p:grpSpPr>
        <p:sp>
          <p:nvSpPr>
            <p:cNvPr id="16" name="object 16"/>
            <p:cNvSpPr/>
            <p:nvPr/>
          </p:nvSpPr>
          <p:spPr>
            <a:xfrm>
              <a:off x="439374" y="337747"/>
              <a:ext cx="389255" cy="398145"/>
            </a:xfrm>
            <a:custGeom>
              <a:avLst/>
              <a:gdLst/>
              <a:ahLst/>
              <a:cxnLst/>
              <a:rect l="l" t="t" r="r" b="b"/>
              <a:pathLst>
                <a:path w="389255" h="398145">
                  <a:moveTo>
                    <a:pt x="388790" y="0"/>
                  </a:moveTo>
                  <a:lnTo>
                    <a:pt x="351924" y="36930"/>
                  </a:lnTo>
                </a:path>
                <a:path w="389255" h="398145">
                  <a:moveTo>
                    <a:pt x="381235" y="398000"/>
                  </a:moveTo>
                  <a:lnTo>
                    <a:pt x="344452" y="361128"/>
                  </a:lnTo>
                </a:path>
                <a:path w="389255" h="398145">
                  <a:moveTo>
                    <a:pt x="7529" y="0"/>
                  </a:moveTo>
                  <a:lnTo>
                    <a:pt x="44337" y="36930"/>
                  </a:lnTo>
                </a:path>
                <a:path w="389255" h="398145">
                  <a:moveTo>
                    <a:pt x="0" y="398000"/>
                  </a:moveTo>
                  <a:lnTo>
                    <a:pt x="36857" y="361127"/>
                  </a:lnTo>
                </a:path>
                <a:path w="389255" h="398145">
                  <a:moveTo>
                    <a:pt x="199840" y="51280"/>
                  </a:moveTo>
                  <a:lnTo>
                    <a:pt x="195877" y="51280"/>
                  </a:lnTo>
                  <a:lnTo>
                    <a:pt x="245445" y="59141"/>
                  </a:lnTo>
                  <a:lnTo>
                    <a:pt x="286275" y="80420"/>
                  </a:lnTo>
                  <a:lnTo>
                    <a:pt x="317059" y="111662"/>
                  </a:lnTo>
                  <a:lnTo>
                    <a:pt x="336488" y="149411"/>
                  </a:lnTo>
                  <a:lnTo>
                    <a:pt x="343255" y="190214"/>
                  </a:lnTo>
                  <a:lnTo>
                    <a:pt x="334651" y="237814"/>
                  </a:lnTo>
                  <a:lnTo>
                    <a:pt x="314134" y="276880"/>
                  </a:lnTo>
                  <a:lnTo>
                    <a:pt x="289646" y="312596"/>
                  </a:lnTo>
                  <a:lnTo>
                    <a:pt x="269129" y="350149"/>
                  </a:lnTo>
                  <a:lnTo>
                    <a:pt x="260525" y="394725"/>
                  </a:lnTo>
                  <a:lnTo>
                    <a:pt x="128256" y="394724"/>
                  </a:lnTo>
                  <a:lnTo>
                    <a:pt x="119678" y="350106"/>
                  </a:lnTo>
                  <a:lnTo>
                    <a:pt x="99222" y="312500"/>
                  </a:lnTo>
                  <a:lnTo>
                    <a:pt x="74807" y="276748"/>
                  </a:lnTo>
                  <a:lnTo>
                    <a:pt x="54352" y="237689"/>
                  </a:lnTo>
                  <a:lnTo>
                    <a:pt x="45774" y="190164"/>
                  </a:lnTo>
                  <a:lnTo>
                    <a:pt x="52522" y="149377"/>
                  </a:lnTo>
                  <a:lnTo>
                    <a:pt x="71913" y="111621"/>
                  </a:lnTo>
                  <a:lnTo>
                    <a:pt x="102668" y="80363"/>
                  </a:lnTo>
                  <a:lnTo>
                    <a:pt x="143507" y="59066"/>
                  </a:lnTo>
                  <a:lnTo>
                    <a:pt x="193152" y="51198"/>
                  </a:lnTo>
                  <a:lnTo>
                    <a:pt x="189189" y="51198"/>
                  </a:lnTo>
                </a:path>
              </a:pathLst>
            </a:custGeom>
            <a:ln w="19833">
              <a:solidFill>
                <a:srgbClr val="000047"/>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17" name="object 17"/>
            <p:cNvPicPr/>
            <p:nvPr/>
          </p:nvPicPr>
          <p:blipFill>
            <a:blip r:embed="rId3" cstate="print"/>
            <a:stretch>
              <a:fillRect/>
            </a:stretch>
          </p:blipFill>
          <p:spPr>
            <a:xfrm>
              <a:off x="571990" y="760858"/>
              <a:ext cx="123550" cy="92453"/>
            </a:xfrm>
            <a:prstGeom prst="rect">
              <a:avLst/>
            </a:prstGeom>
          </p:spPr>
        </p:pic>
      </p:grpSp>
      <p:sp>
        <p:nvSpPr>
          <p:cNvPr id="18" name="object 18"/>
          <p:cNvSpPr/>
          <p:nvPr/>
        </p:nvSpPr>
        <p:spPr>
          <a:xfrm>
            <a:off x="861934" y="541013"/>
            <a:ext cx="52705" cy="0"/>
          </a:xfrm>
          <a:custGeom>
            <a:avLst/>
            <a:gdLst/>
            <a:ahLst/>
            <a:cxnLst/>
            <a:rect l="l" t="t" r="r" b="b"/>
            <a:pathLst>
              <a:path w="52705">
                <a:moveTo>
                  <a:pt x="52139" y="0"/>
                </a:moveTo>
                <a:lnTo>
                  <a:pt x="0" y="0"/>
                </a:lnTo>
              </a:path>
            </a:pathLst>
          </a:custGeom>
          <a:ln w="19850">
            <a:solidFill>
              <a:srgbClr val="000047"/>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p:cNvSpPr/>
          <p:nvPr/>
        </p:nvSpPr>
        <p:spPr>
          <a:xfrm>
            <a:off x="353474" y="530343"/>
            <a:ext cx="52069" cy="0"/>
          </a:xfrm>
          <a:custGeom>
            <a:avLst/>
            <a:gdLst/>
            <a:ahLst/>
            <a:cxnLst/>
            <a:rect l="l" t="t" r="r" b="b"/>
            <a:pathLst>
              <a:path w="52070">
                <a:moveTo>
                  <a:pt x="0" y="0"/>
                </a:moveTo>
                <a:lnTo>
                  <a:pt x="52065" y="0"/>
                </a:lnTo>
              </a:path>
            </a:pathLst>
          </a:custGeom>
          <a:ln w="19850">
            <a:solidFill>
              <a:srgbClr val="000047"/>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p:cNvSpPr txBox="1">
            <a:spLocks noGrp="1"/>
          </p:cNvSpPr>
          <p:nvPr>
            <p:ph type="ftr" sz="quarter" idx="5"/>
          </p:nvPr>
        </p:nvSpPr>
        <p:spPr>
          <a:xfrm>
            <a:off x="993139" y="6441888"/>
            <a:ext cx="1423670" cy="111569"/>
          </a:xfrm>
          <a:prstGeom prst="rect">
            <a:avLst/>
          </a:prstGeom>
        </p:spPr>
        <p:txBody>
          <a:bodyPr vert="horz" wrap="square" lIns="0" tIns="3810" rIns="0" bIns="0" rtlCol="0">
            <a:spAutoFit/>
          </a:bodyPr>
          <a:lstStyle/>
          <a:p>
            <a:pPr marL="104139">
              <a:lnSpc>
                <a:spcPct val="100000"/>
              </a:lnSpc>
              <a:spcBef>
                <a:spcPts val="30"/>
              </a:spcBef>
            </a:pPr>
            <a:r>
              <a:rPr dirty="0">
                <a:latin typeface="Times New Roman" panose="02020603050405020304" pitchFamily="18" charset="0"/>
                <a:cs typeface="Times New Roman" panose="02020603050405020304" pitchFamily="18" charset="0"/>
              </a:rPr>
              <a:t>©</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2026–2027 Cognizant</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Private</a:t>
            </a:r>
          </a:p>
        </p:txBody>
      </p:sp>
      <p:sp>
        <p:nvSpPr>
          <p:cNvPr id="22" name="object 22"/>
          <p:cNvSpPr txBox="1">
            <a:spLocks noGrp="1"/>
          </p:cNvSpPr>
          <p:nvPr>
            <p:ph type="sldNum" sz="quarter" idx="7"/>
          </p:nvPr>
        </p:nvSpPr>
        <p:spPr>
          <a:xfrm>
            <a:off x="419100" y="6457128"/>
            <a:ext cx="148590" cy="173123"/>
          </a:xfrm>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latin typeface="Times New Roman" panose="02020603050405020304" pitchFamily="18" charset="0"/>
                <a:cs typeface="Times New Roman" panose="02020603050405020304" pitchFamily="18" charset="0"/>
              </a:rPr>
              <a:t>2</a:t>
            </a:fld>
            <a:endParaRPr spc="-50" dirty="0">
              <a:latin typeface="Times New Roman" panose="02020603050405020304" pitchFamily="18" charset="0"/>
              <a:cs typeface="Times New Roman" panose="02020603050405020304" pitchFamily="18" charset="0"/>
            </a:endParaRPr>
          </a:p>
        </p:txBody>
      </p:sp>
      <p:sp>
        <p:nvSpPr>
          <p:cNvPr id="27" name="Rectangle 5">
            <a:extLst>
              <a:ext uri="{FF2B5EF4-FFF2-40B4-BE49-F238E27FC236}">
                <a16:creationId xmlns:a16="http://schemas.microsoft.com/office/drawing/2014/main" id="{2B8FABBD-C7FE-8732-63BC-E342F24E7A0D}"/>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8" name="Rectangle 8">
            <a:extLst>
              <a:ext uri="{FF2B5EF4-FFF2-40B4-BE49-F238E27FC236}">
                <a16:creationId xmlns:a16="http://schemas.microsoft.com/office/drawing/2014/main" id="{6D0F562B-1422-B4BA-F554-025DFDFE787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250B7-C6CD-90B4-1193-47CCF2529597}"/>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2E5BAE7E-4C91-352B-3377-84BBBE65AF39}"/>
              </a:ext>
            </a:extLst>
          </p:cNvPr>
          <p:cNvGrpSpPr/>
          <p:nvPr/>
        </p:nvGrpSpPr>
        <p:grpSpPr>
          <a:xfrm>
            <a:off x="391629" y="946442"/>
            <a:ext cx="11453495" cy="5814695"/>
            <a:chOff x="391629" y="946442"/>
            <a:chExt cx="11453495" cy="5814695"/>
          </a:xfrm>
        </p:grpSpPr>
        <p:pic>
          <p:nvPicPr>
            <p:cNvPr id="3" name="object 3">
              <a:extLst>
                <a:ext uri="{FF2B5EF4-FFF2-40B4-BE49-F238E27FC236}">
                  <a16:creationId xmlns:a16="http://schemas.microsoft.com/office/drawing/2014/main" id="{4DB2A720-9DAB-4459-A99D-F27710976F4B}"/>
                </a:ext>
              </a:extLst>
            </p:cNvPr>
            <p:cNvPicPr/>
            <p:nvPr/>
          </p:nvPicPr>
          <p:blipFill>
            <a:blip r:embed="rId3" cstate="print"/>
            <a:stretch>
              <a:fillRect/>
            </a:stretch>
          </p:blipFill>
          <p:spPr>
            <a:xfrm>
              <a:off x="10482452" y="6352477"/>
              <a:ext cx="1362075" cy="408431"/>
            </a:xfrm>
            <a:prstGeom prst="rect">
              <a:avLst/>
            </a:prstGeom>
          </p:spPr>
        </p:pic>
        <p:sp>
          <p:nvSpPr>
            <p:cNvPr id="4" name="object 4">
              <a:extLst>
                <a:ext uri="{FF2B5EF4-FFF2-40B4-BE49-F238E27FC236}">
                  <a16:creationId xmlns:a16="http://schemas.microsoft.com/office/drawing/2014/main" id="{76F8AFBF-4DAF-77C5-4724-04170CA4A030}"/>
                </a:ext>
              </a:extLst>
            </p:cNvPr>
            <p:cNvSpPr/>
            <p:nvPr/>
          </p:nvSpPr>
          <p:spPr>
            <a:xfrm>
              <a:off x="391629" y="946442"/>
              <a:ext cx="11409045" cy="5417820"/>
            </a:xfrm>
            <a:custGeom>
              <a:avLst/>
              <a:gdLst/>
              <a:ahLst/>
              <a:cxnLst/>
              <a:rect l="l" t="t" r="r" b="b"/>
              <a:pathLst>
                <a:path w="11409045" h="5417820">
                  <a:moveTo>
                    <a:pt x="11408791" y="0"/>
                  </a:moveTo>
                  <a:lnTo>
                    <a:pt x="0" y="0"/>
                  </a:lnTo>
                  <a:lnTo>
                    <a:pt x="0" y="5417566"/>
                  </a:lnTo>
                  <a:lnTo>
                    <a:pt x="11408791" y="5417566"/>
                  </a:lnTo>
                  <a:lnTo>
                    <a:pt x="11408791" y="0"/>
                  </a:lnTo>
                  <a:close/>
                </a:path>
              </a:pathLst>
            </a:custGeom>
            <a:solidFill>
              <a:srgbClr val="F1F1F1"/>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5" name="object 5">
            <a:extLst>
              <a:ext uri="{FF2B5EF4-FFF2-40B4-BE49-F238E27FC236}">
                <a16:creationId xmlns:a16="http://schemas.microsoft.com/office/drawing/2014/main" id="{AE12D436-7DD4-72D4-1BE0-ADD333D54029}"/>
              </a:ext>
            </a:extLst>
          </p:cNvPr>
          <p:cNvSpPr txBox="1"/>
          <p:nvPr/>
        </p:nvSpPr>
        <p:spPr>
          <a:xfrm>
            <a:off x="1118412" y="343915"/>
            <a:ext cx="8228851" cy="382156"/>
          </a:xfrm>
          <a:prstGeom prst="rect">
            <a:avLst/>
          </a:prstGeom>
        </p:spPr>
        <p:txBody>
          <a:bodyPr vert="horz" wrap="square" lIns="0" tIns="12700" rIns="0" bIns="0" rtlCol="0">
            <a:spAutoFit/>
          </a:bodyPr>
          <a:lstStyle/>
          <a:p>
            <a:pPr marL="12700">
              <a:lnSpc>
                <a:spcPct val="100000"/>
              </a:lnSpc>
              <a:spcBef>
                <a:spcPts val="100"/>
              </a:spcBef>
            </a:pPr>
            <a:r>
              <a:rPr lang="en-US" b="1" dirty="0">
                <a:solidFill>
                  <a:srgbClr val="000047"/>
                </a:solidFill>
                <a:latin typeface="Times New Roman" panose="02020603050405020304" pitchFamily="18" charset="0"/>
                <a:cs typeface="Times New Roman" panose="02020603050405020304" pitchFamily="18" charset="0"/>
              </a:rPr>
              <a:t>Real-Time Fraud And Behavior Intelligence System</a:t>
            </a:r>
            <a:r>
              <a:rPr lang="en-US" b="1" i="1" dirty="0">
                <a:solidFill>
                  <a:srgbClr val="000047"/>
                </a:solidFill>
                <a:latin typeface="Times New Roman" panose="02020603050405020304" pitchFamily="18" charset="0"/>
                <a:cs typeface="Times New Roman" panose="02020603050405020304" pitchFamily="18" charset="0"/>
              </a:rPr>
              <a:t> </a:t>
            </a:r>
            <a:r>
              <a:rPr sz="2400" b="1" dirty="0">
                <a:solidFill>
                  <a:srgbClr val="000047"/>
                </a:solidFill>
                <a:latin typeface="Times New Roman" panose="02020603050405020304" pitchFamily="18" charset="0"/>
                <a:cs typeface="Times New Roman" panose="02020603050405020304" pitchFamily="18" charset="0"/>
              </a:rPr>
              <a:t>|</a:t>
            </a:r>
            <a:r>
              <a:rPr sz="2400" b="1" spc="-50" dirty="0">
                <a:solidFill>
                  <a:srgbClr val="000047"/>
                </a:solidFill>
                <a:latin typeface="Times New Roman" panose="02020603050405020304" pitchFamily="18" charset="0"/>
                <a:cs typeface="Times New Roman" panose="02020603050405020304" pitchFamily="18" charset="0"/>
              </a:rPr>
              <a:t> </a:t>
            </a:r>
            <a:r>
              <a:rPr sz="2400" b="1" dirty="0">
                <a:solidFill>
                  <a:srgbClr val="000047"/>
                </a:solidFill>
                <a:latin typeface="Times New Roman" panose="02020603050405020304" pitchFamily="18" charset="0"/>
                <a:cs typeface="Times New Roman" panose="02020603050405020304" pitchFamily="18" charset="0"/>
              </a:rPr>
              <a:t>Business</a:t>
            </a:r>
            <a:r>
              <a:rPr sz="2400" b="1" spc="-55" dirty="0">
                <a:solidFill>
                  <a:srgbClr val="000047"/>
                </a:solidFill>
                <a:latin typeface="Times New Roman" panose="02020603050405020304" pitchFamily="18" charset="0"/>
                <a:cs typeface="Times New Roman" panose="02020603050405020304" pitchFamily="18" charset="0"/>
              </a:rPr>
              <a:t> </a:t>
            </a:r>
            <a:r>
              <a:rPr sz="2400" b="1" dirty="0">
                <a:solidFill>
                  <a:srgbClr val="000047"/>
                </a:solidFill>
                <a:latin typeface="Times New Roman" panose="02020603050405020304" pitchFamily="18" charset="0"/>
                <a:cs typeface="Times New Roman" panose="02020603050405020304" pitchFamily="18" charset="0"/>
              </a:rPr>
              <a:t>Plan</a:t>
            </a:r>
            <a:r>
              <a:rPr sz="2400" b="1" spc="-65" dirty="0">
                <a:solidFill>
                  <a:srgbClr val="000047"/>
                </a:solidFill>
                <a:latin typeface="Times New Roman" panose="02020603050405020304" pitchFamily="18" charset="0"/>
                <a:cs typeface="Times New Roman" panose="02020603050405020304" pitchFamily="18" charset="0"/>
              </a:rPr>
              <a:t> </a:t>
            </a:r>
            <a:r>
              <a:rPr sz="2400" b="1" spc="-10" dirty="0">
                <a:solidFill>
                  <a:srgbClr val="000047"/>
                </a:solidFill>
                <a:latin typeface="Times New Roman" panose="02020603050405020304" pitchFamily="18" charset="0"/>
                <a:cs typeface="Times New Roman" panose="02020603050405020304" pitchFamily="18" charset="0"/>
              </a:rPr>
              <a:t>(1/2)</a:t>
            </a:r>
            <a:endParaRPr sz="2400" dirty="0">
              <a:latin typeface="Times New Roman" panose="02020603050405020304" pitchFamily="18" charset="0"/>
              <a:cs typeface="Times New Roman" panose="02020603050405020304" pitchFamily="18" charset="0"/>
            </a:endParaRPr>
          </a:p>
        </p:txBody>
      </p:sp>
      <p:sp>
        <p:nvSpPr>
          <p:cNvPr id="9" name="object 9">
            <a:extLst>
              <a:ext uri="{FF2B5EF4-FFF2-40B4-BE49-F238E27FC236}">
                <a16:creationId xmlns:a16="http://schemas.microsoft.com/office/drawing/2014/main" id="{E2C30C6E-6268-39D1-460C-339BEA269AB5}"/>
              </a:ext>
            </a:extLst>
          </p:cNvPr>
          <p:cNvSpPr txBox="1"/>
          <p:nvPr/>
        </p:nvSpPr>
        <p:spPr>
          <a:xfrm>
            <a:off x="563367" y="1170426"/>
            <a:ext cx="8699500" cy="1946495"/>
          </a:xfrm>
          <a:prstGeom prst="rect">
            <a:avLst/>
          </a:prstGeom>
          <a:solidFill>
            <a:srgbClr val="F1F1F1"/>
          </a:solidFill>
          <a:ln w="25400">
            <a:solidFill>
              <a:srgbClr val="D9D9D9"/>
            </a:solidFill>
          </a:ln>
        </p:spPr>
        <p:txBody>
          <a:bodyPr vert="horz" wrap="square" lIns="0" tIns="41275" rIns="0" bIns="0" rtlCol="0">
            <a:spAutoFit/>
          </a:bodyPr>
          <a:lstStyle/>
          <a:p>
            <a:pPr marL="91440" marR="7224395">
              <a:lnSpc>
                <a:spcPct val="150000"/>
              </a:lnSpc>
              <a:spcBef>
                <a:spcPts val="325"/>
              </a:spcBef>
            </a:pPr>
            <a:r>
              <a:rPr lang="en-US" sz="1200" b="1" spc="-10" dirty="0">
                <a:solidFill>
                  <a:srgbClr val="000047"/>
                </a:solidFill>
                <a:latin typeface="Times New Roman" panose="02020603050405020304" pitchFamily="18" charset="0"/>
                <a:cs typeface="Times New Roman" panose="02020603050405020304" pitchFamily="18" charset="0"/>
              </a:rPr>
              <a:t>Innovation</a:t>
            </a:r>
            <a:r>
              <a:rPr lang="en-US" sz="1200" spc="-10" dirty="0">
                <a:solidFill>
                  <a:srgbClr val="000047"/>
                </a:solidFill>
                <a:latin typeface="Times New Roman" panose="02020603050405020304" pitchFamily="18" charset="0"/>
                <a:cs typeface="Times New Roman" panose="02020603050405020304" pitchFamily="18" charset="0"/>
              </a:rPr>
              <a:t>:</a:t>
            </a:r>
          </a:p>
          <a:p>
            <a:pPr marL="171450" indent="-171450">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Combines fraud detection with behavior intelligence </a:t>
            </a:r>
          </a:p>
          <a:p>
            <a:pPr marL="171450" indent="-171450">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Provides Explainable AI through chatbot (tells why fraud detected) </a:t>
            </a:r>
          </a:p>
          <a:p>
            <a:pPr marL="171450" indent="-171450">
              <a:lnSpc>
                <a:spcPct val="15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Real-time risk scoring for every transaction </a:t>
            </a:r>
          </a:p>
          <a:p>
            <a:pPr marL="91440">
              <a:lnSpc>
                <a:spcPct val="150000"/>
              </a:lnSpc>
              <a:spcBef>
                <a:spcPts val="5"/>
              </a:spcBef>
            </a:pPr>
            <a:r>
              <a:rPr sz="1200" b="1" dirty="0">
                <a:solidFill>
                  <a:srgbClr val="000047"/>
                </a:solidFill>
                <a:latin typeface="Times New Roman" panose="02020603050405020304" pitchFamily="18" charset="0"/>
                <a:cs typeface="Times New Roman" panose="02020603050405020304" pitchFamily="18" charset="0"/>
              </a:rPr>
              <a:t>Market</a:t>
            </a:r>
            <a:r>
              <a:rPr sz="1200" b="1" spc="-50" dirty="0">
                <a:solidFill>
                  <a:srgbClr val="000047"/>
                </a:solidFill>
                <a:latin typeface="Times New Roman" panose="02020603050405020304" pitchFamily="18" charset="0"/>
                <a:cs typeface="Times New Roman" panose="02020603050405020304" pitchFamily="18" charset="0"/>
              </a:rPr>
              <a:t> </a:t>
            </a:r>
            <a:r>
              <a:rPr sz="1200" b="1" spc="-10" dirty="0">
                <a:solidFill>
                  <a:srgbClr val="000047"/>
                </a:solidFill>
                <a:latin typeface="Times New Roman" panose="02020603050405020304" pitchFamily="18" charset="0"/>
                <a:cs typeface="Times New Roman" panose="02020603050405020304" pitchFamily="18" charset="0"/>
              </a:rPr>
              <a:t>Potential:</a:t>
            </a:r>
            <a:endParaRPr lang="en-US" sz="1200" b="1" spc="-10" dirty="0">
              <a:solidFill>
                <a:srgbClr val="000047"/>
              </a:solidFill>
              <a:latin typeface="Times New Roman" panose="02020603050405020304" pitchFamily="18" charset="0"/>
              <a:cs typeface="Times New Roman" panose="02020603050405020304" pitchFamily="18" charset="0"/>
            </a:endParaRPr>
          </a:p>
          <a:p>
            <a:pPr marL="91440">
              <a:lnSpc>
                <a:spcPct val="150000"/>
              </a:lnSpc>
              <a:spcBef>
                <a:spcPts val="5"/>
              </a:spcBef>
            </a:pPr>
            <a:r>
              <a:rPr lang="en-US" sz="1200" dirty="0">
                <a:latin typeface="Times New Roman" panose="02020603050405020304" pitchFamily="18" charset="0"/>
                <a:cs typeface="Times New Roman" panose="02020603050405020304" pitchFamily="18" charset="0"/>
              </a:rPr>
              <a:t>With the rapid increase in the number of digital transactions and online banking services, there is a huge requirement for intelligent fraud detection systems, hence making this product very scalable and relevant.</a:t>
            </a:r>
            <a:endParaRPr sz="120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15C3974E-D141-E7A9-E35E-131D5A038409}"/>
              </a:ext>
            </a:extLst>
          </p:cNvPr>
          <p:cNvSpPr txBox="1"/>
          <p:nvPr/>
        </p:nvSpPr>
        <p:spPr>
          <a:xfrm>
            <a:off x="9399968" y="1781341"/>
            <a:ext cx="2014220" cy="527067"/>
          </a:xfrm>
          <a:prstGeom prst="rect">
            <a:avLst/>
          </a:prstGeom>
          <a:solidFill>
            <a:srgbClr val="000047"/>
          </a:solidFill>
        </p:spPr>
        <p:txBody>
          <a:bodyPr vert="horz" wrap="square" lIns="0" tIns="34290" rIns="0" bIns="0" rtlCol="0">
            <a:spAutoFit/>
          </a:bodyPr>
          <a:lstStyle/>
          <a:p>
            <a:pPr marL="577215">
              <a:lnSpc>
                <a:spcPct val="100000"/>
              </a:lnSpc>
              <a:spcBef>
                <a:spcPts val="270"/>
              </a:spcBef>
            </a:pPr>
            <a:r>
              <a:rPr sz="3200" b="1" spc="-25" dirty="0">
                <a:solidFill>
                  <a:srgbClr val="FFFFFF"/>
                </a:solidFill>
                <a:latin typeface="Times New Roman" panose="02020603050405020304" pitchFamily="18" charset="0"/>
                <a:cs typeface="Times New Roman" panose="02020603050405020304" pitchFamily="18" charset="0"/>
              </a:rPr>
              <a:t>How</a:t>
            </a:r>
            <a:endParaRPr sz="3200" dirty="0">
              <a:latin typeface="Times New Roman" panose="02020603050405020304" pitchFamily="18" charset="0"/>
              <a:cs typeface="Times New Roman" panose="02020603050405020304" pitchFamily="18" charset="0"/>
            </a:endParaRPr>
          </a:p>
        </p:txBody>
      </p:sp>
      <p:sp>
        <p:nvSpPr>
          <p:cNvPr id="12" name="object 12">
            <a:extLst>
              <a:ext uri="{FF2B5EF4-FFF2-40B4-BE49-F238E27FC236}">
                <a16:creationId xmlns:a16="http://schemas.microsoft.com/office/drawing/2014/main" id="{10664898-A9FD-BE2A-74EB-29114D5C923A}"/>
              </a:ext>
            </a:extLst>
          </p:cNvPr>
          <p:cNvSpPr txBox="1"/>
          <p:nvPr/>
        </p:nvSpPr>
        <p:spPr>
          <a:xfrm>
            <a:off x="495329" y="4083845"/>
            <a:ext cx="2014220" cy="527709"/>
          </a:xfrm>
          <a:prstGeom prst="rect">
            <a:avLst/>
          </a:prstGeom>
          <a:solidFill>
            <a:srgbClr val="000047"/>
          </a:solidFill>
        </p:spPr>
        <p:txBody>
          <a:bodyPr vert="horz" wrap="square" lIns="0" tIns="34925" rIns="0" bIns="0" rtlCol="0">
            <a:spAutoFit/>
          </a:bodyPr>
          <a:lstStyle/>
          <a:p>
            <a:pPr marL="411480">
              <a:lnSpc>
                <a:spcPct val="100000"/>
              </a:lnSpc>
              <a:spcBef>
                <a:spcPts val="275"/>
              </a:spcBef>
            </a:pPr>
            <a:r>
              <a:rPr sz="3200" b="1" spc="-20" dirty="0">
                <a:solidFill>
                  <a:schemeClr val="bg1"/>
                </a:solidFill>
                <a:latin typeface="Times New Roman" panose="02020603050405020304" pitchFamily="18" charset="0"/>
                <a:cs typeface="Times New Roman" panose="02020603050405020304" pitchFamily="18" charset="0"/>
              </a:rPr>
              <a:t>W</a:t>
            </a:r>
            <a:r>
              <a:rPr lang="en-US" sz="3200" b="1" spc="-20" dirty="0">
                <a:solidFill>
                  <a:schemeClr val="bg1"/>
                </a:solidFill>
                <a:latin typeface="Times New Roman" panose="02020603050405020304" pitchFamily="18" charset="0"/>
                <a:cs typeface="Times New Roman" panose="02020603050405020304" pitchFamily="18" charset="0"/>
              </a:rPr>
              <a:t>HA</a:t>
            </a:r>
            <a:r>
              <a:rPr sz="3200" b="1" spc="-20" dirty="0">
                <a:solidFill>
                  <a:schemeClr val="bg1"/>
                </a:solidFill>
                <a:latin typeface="Times New Roman" panose="02020603050405020304" pitchFamily="18" charset="0"/>
                <a:cs typeface="Times New Roman" panose="02020603050405020304" pitchFamily="18" charset="0"/>
              </a:rPr>
              <a:t>T</a:t>
            </a:r>
            <a:endParaRPr sz="3200" dirty="0">
              <a:solidFill>
                <a:schemeClr val="bg1"/>
              </a:solidFill>
              <a:latin typeface="Times New Roman" panose="02020603050405020304" pitchFamily="18" charset="0"/>
              <a:cs typeface="Times New Roman" panose="02020603050405020304" pitchFamily="18" charset="0"/>
            </a:endParaRPr>
          </a:p>
        </p:txBody>
      </p:sp>
      <p:sp>
        <p:nvSpPr>
          <p:cNvPr id="14" name="object 14">
            <a:extLst>
              <a:ext uri="{FF2B5EF4-FFF2-40B4-BE49-F238E27FC236}">
                <a16:creationId xmlns:a16="http://schemas.microsoft.com/office/drawing/2014/main" id="{CFA44570-D12A-707F-C578-CFDD89C3F9AD}"/>
              </a:ext>
            </a:extLst>
          </p:cNvPr>
          <p:cNvSpPr/>
          <p:nvPr/>
        </p:nvSpPr>
        <p:spPr>
          <a:xfrm>
            <a:off x="639066" y="265582"/>
            <a:ext cx="0" cy="52705"/>
          </a:xfrm>
          <a:custGeom>
            <a:avLst/>
            <a:gdLst/>
            <a:ahLst/>
            <a:cxnLst/>
            <a:rect l="l" t="t" r="r" b="b"/>
            <a:pathLst>
              <a:path h="52704">
                <a:moveTo>
                  <a:pt x="0" y="0"/>
                </a:moveTo>
                <a:lnTo>
                  <a:pt x="0" y="52231"/>
                </a:lnTo>
              </a:path>
            </a:pathLst>
          </a:custGeom>
          <a:ln w="19815">
            <a:solidFill>
              <a:srgbClr val="000047"/>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nvGrpSpPr>
          <p:cNvPr id="15" name="object 15">
            <a:extLst>
              <a:ext uri="{FF2B5EF4-FFF2-40B4-BE49-F238E27FC236}">
                <a16:creationId xmlns:a16="http://schemas.microsoft.com/office/drawing/2014/main" id="{037CBB50-7567-8BA2-DC6C-4B4C249A2CFA}"/>
              </a:ext>
            </a:extLst>
          </p:cNvPr>
          <p:cNvGrpSpPr/>
          <p:nvPr/>
        </p:nvGrpSpPr>
        <p:grpSpPr>
          <a:xfrm>
            <a:off x="429458" y="327830"/>
            <a:ext cx="408940" cy="525780"/>
            <a:chOff x="429458" y="327830"/>
            <a:chExt cx="408940" cy="525780"/>
          </a:xfrm>
        </p:grpSpPr>
        <p:sp>
          <p:nvSpPr>
            <p:cNvPr id="16" name="object 16">
              <a:extLst>
                <a:ext uri="{FF2B5EF4-FFF2-40B4-BE49-F238E27FC236}">
                  <a16:creationId xmlns:a16="http://schemas.microsoft.com/office/drawing/2014/main" id="{0D8D59E5-1918-E37B-7A01-109A4FDEEE69}"/>
                </a:ext>
              </a:extLst>
            </p:cNvPr>
            <p:cNvSpPr/>
            <p:nvPr/>
          </p:nvSpPr>
          <p:spPr>
            <a:xfrm>
              <a:off x="439374" y="337747"/>
              <a:ext cx="389255" cy="398145"/>
            </a:xfrm>
            <a:custGeom>
              <a:avLst/>
              <a:gdLst/>
              <a:ahLst/>
              <a:cxnLst/>
              <a:rect l="l" t="t" r="r" b="b"/>
              <a:pathLst>
                <a:path w="389255" h="398145">
                  <a:moveTo>
                    <a:pt x="388790" y="0"/>
                  </a:moveTo>
                  <a:lnTo>
                    <a:pt x="351924" y="36930"/>
                  </a:lnTo>
                </a:path>
                <a:path w="389255" h="398145">
                  <a:moveTo>
                    <a:pt x="381235" y="398000"/>
                  </a:moveTo>
                  <a:lnTo>
                    <a:pt x="344452" y="361128"/>
                  </a:lnTo>
                </a:path>
                <a:path w="389255" h="398145">
                  <a:moveTo>
                    <a:pt x="7529" y="0"/>
                  </a:moveTo>
                  <a:lnTo>
                    <a:pt x="44337" y="36930"/>
                  </a:lnTo>
                </a:path>
                <a:path w="389255" h="398145">
                  <a:moveTo>
                    <a:pt x="0" y="398000"/>
                  </a:moveTo>
                  <a:lnTo>
                    <a:pt x="36857" y="361127"/>
                  </a:lnTo>
                </a:path>
                <a:path w="389255" h="398145">
                  <a:moveTo>
                    <a:pt x="199840" y="51280"/>
                  </a:moveTo>
                  <a:lnTo>
                    <a:pt x="195877" y="51280"/>
                  </a:lnTo>
                  <a:lnTo>
                    <a:pt x="245445" y="59141"/>
                  </a:lnTo>
                  <a:lnTo>
                    <a:pt x="286275" y="80420"/>
                  </a:lnTo>
                  <a:lnTo>
                    <a:pt x="317059" y="111662"/>
                  </a:lnTo>
                  <a:lnTo>
                    <a:pt x="336488" y="149411"/>
                  </a:lnTo>
                  <a:lnTo>
                    <a:pt x="343255" y="190214"/>
                  </a:lnTo>
                  <a:lnTo>
                    <a:pt x="334651" y="237814"/>
                  </a:lnTo>
                  <a:lnTo>
                    <a:pt x="314134" y="276880"/>
                  </a:lnTo>
                  <a:lnTo>
                    <a:pt x="289646" y="312596"/>
                  </a:lnTo>
                  <a:lnTo>
                    <a:pt x="269129" y="350149"/>
                  </a:lnTo>
                  <a:lnTo>
                    <a:pt x="260525" y="394725"/>
                  </a:lnTo>
                  <a:lnTo>
                    <a:pt x="128256" y="394724"/>
                  </a:lnTo>
                  <a:lnTo>
                    <a:pt x="119678" y="350106"/>
                  </a:lnTo>
                  <a:lnTo>
                    <a:pt x="99222" y="312500"/>
                  </a:lnTo>
                  <a:lnTo>
                    <a:pt x="74807" y="276748"/>
                  </a:lnTo>
                  <a:lnTo>
                    <a:pt x="54352" y="237689"/>
                  </a:lnTo>
                  <a:lnTo>
                    <a:pt x="45774" y="190164"/>
                  </a:lnTo>
                  <a:lnTo>
                    <a:pt x="52522" y="149377"/>
                  </a:lnTo>
                  <a:lnTo>
                    <a:pt x="71913" y="111621"/>
                  </a:lnTo>
                  <a:lnTo>
                    <a:pt x="102668" y="80363"/>
                  </a:lnTo>
                  <a:lnTo>
                    <a:pt x="143507" y="59066"/>
                  </a:lnTo>
                  <a:lnTo>
                    <a:pt x="193152" y="51198"/>
                  </a:lnTo>
                  <a:lnTo>
                    <a:pt x="189189" y="51198"/>
                  </a:lnTo>
                </a:path>
              </a:pathLst>
            </a:custGeom>
            <a:ln w="19833">
              <a:solidFill>
                <a:srgbClr val="000047"/>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17" name="object 17">
              <a:extLst>
                <a:ext uri="{FF2B5EF4-FFF2-40B4-BE49-F238E27FC236}">
                  <a16:creationId xmlns:a16="http://schemas.microsoft.com/office/drawing/2014/main" id="{4C440342-7E0D-1B46-0FD1-BF3D1039FF3B}"/>
                </a:ext>
              </a:extLst>
            </p:cNvPr>
            <p:cNvPicPr/>
            <p:nvPr/>
          </p:nvPicPr>
          <p:blipFill>
            <a:blip r:embed="rId4" cstate="print"/>
            <a:stretch>
              <a:fillRect/>
            </a:stretch>
          </p:blipFill>
          <p:spPr>
            <a:xfrm>
              <a:off x="571990" y="760858"/>
              <a:ext cx="123550" cy="92453"/>
            </a:xfrm>
            <a:prstGeom prst="rect">
              <a:avLst/>
            </a:prstGeom>
          </p:spPr>
        </p:pic>
      </p:grpSp>
      <p:sp>
        <p:nvSpPr>
          <p:cNvPr id="18" name="object 18">
            <a:extLst>
              <a:ext uri="{FF2B5EF4-FFF2-40B4-BE49-F238E27FC236}">
                <a16:creationId xmlns:a16="http://schemas.microsoft.com/office/drawing/2014/main" id="{2BD47240-D25A-0CDD-CAB6-9ABA7DF8F567}"/>
              </a:ext>
            </a:extLst>
          </p:cNvPr>
          <p:cNvSpPr/>
          <p:nvPr/>
        </p:nvSpPr>
        <p:spPr>
          <a:xfrm>
            <a:off x="861934" y="541013"/>
            <a:ext cx="52705" cy="0"/>
          </a:xfrm>
          <a:custGeom>
            <a:avLst/>
            <a:gdLst/>
            <a:ahLst/>
            <a:cxnLst/>
            <a:rect l="l" t="t" r="r" b="b"/>
            <a:pathLst>
              <a:path w="52705">
                <a:moveTo>
                  <a:pt x="52139" y="0"/>
                </a:moveTo>
                <a:lnTo>
                  <a:pt x="0" y="0"/>
                </a:lnTo>
              </a:path>
            </a:pathLst>
          </a:custGeom>
          <a:ln w="19850">
            <a:solidFill>
              <a:srgbClr val="000047"/>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19" name="object 19">
            <a:extLst>
              <a:ext uri="{FF2B5EF4-FFF2-40B4-BE49-F238E27FC236}">
                <a16:creationId xmlns:a16="http://schemas.microsoft.com/office/drawing/2014/main" id="{50BBD97C-821D-4B8E-0541-7987E17221A5}"/>
              </a:ext>
            </a:extLst>
          </p:cNvPr>
          <p:cNvSpPr/>
          <p:nvPr/>
        </p:nvSpPr>
        <p:spPr>
          <a:xfrm>
            <a:off x="353474" y="530343"/>
            <a:ext cx="52069" cy="0"/>
          </a:xfrm>
          <a:custGeom>
            <a:avLst/>
            <a:gdLst/>
            <a:ahLst/>
            <a:cxnLst/>
            <a:rect l="l" t="t" r="r" b="b"/>
            <a:pathLst>
              <a:path w="52070">
                <a:moveTo>
                  <a:pt x="0" y="0"/>
                </a:moveTo>
                <a:lnTo>
                  <a:pt x="52065" y="0"/>
                </a:lnTo>
              </a:path>
            </a:pathLst>
          </a:custGeom>
          <a:ln w="19850">
            <a:solidFill>
              <a:srgbClr val="000047"/>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1" name="object 21">
            <a:extLst>
              <a:ext uri="{FF2B5EF4-FFF2-40B4-BE49-F238E27FC236}">
                <a16:creationId xmlns:a16="http://schemas.microsoft.com/office/drawing/2014/main" id="{B532DEDC-2967-44C4-B1F9-ECF85003A44D}"/>
              </a:ext>
            </a:extLst>
          </p:cNvPr>
          <p:cNvSpPr txBox="1">
            <a:spLocks noGrp="1"/>
          </p:cNvSpPr>
          <p:nvPr>
            <p:ph type="ftr" sz="quarter" idx="5"/>
          </p:nvPr>
        </p:nvSpPr>
        <p:spPr>
          <a:xfrm>
            <a:off x="993139" y="6441888"/>
            <a:ext cx="1423670" cy="111569"/>
          </a:xfrm>
          <a:prstGeom prst="rect">
            <a:avLst/>
          </a:prstGeom>
        </p:spPr>
        <p:txBody>
          <a:bodyPr vert="horz" wrap="square" lIns="0" tIns="3810" rIns="0" bIns="0" rtlCol="0">
            <a:spAutoFit/>
          </a:bodyPr>
          <a:lstStyle/>
          <a:p>
            <a:pPr marL="104139">
              <a:lnSpc>
                <a:spcPct val="100000"/>
              </a:lnSpc>
              <a:spcBef>
                <a:spcPts val="30"/>
              </a:spcBef>
            </a:pPr>
            <a:r>
              <a:rPr dirty="0">
                <a:latin typeface="Times New Roman" panose="02020603050405020304" pitchFamily="18" charset="0"/>
                <a:cs typeface="Times New Roman" panose="02020603050405020304" pitchFamily="18" charset="0"/>
              </a:rPr>
              <a:t>©</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2026–2027 Cognizant</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Private</a:t>
            </a:r>
          </a:p>
        </p:txBody>
      </p:sp>
      <p:sp>
        <p:nvSpPr>
          <p:cNvPr id="22" name="object 22">
            <a:extLst>
              <a:ext uri="{FF2B5EF4-FFF2-40B4-BE49-F238E27FC236}">
                <a16:creationId xmlns:a16="http://schemas.microsoft.com/office/drawing/2014/main" id="{80CE06CF-6F8E-B1C6-CA57-712A3D64F742}"/>
              </a:ext>
            </a:extLst>
          </p:cNvPr>
          <p:cNvSpPr txBox="1">
            <a:spLocks noGrp="1"/>
          </p:cNvSpPr>
          <p:nvPr>
            <p:ph type="sldNum" sz="quarter" idx="7"/>
          </p:nvPr>
        </p:nvSpPr>
        <p:spPr>
          <a:xfrm>
            <a:off x="419100" y="6457128"/>
            <a:ext cx="148590" cy="173123"/>
          </a:xfrm>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latin typeface="Times New Roman" panose="02020603050405020304" pitchFamily="18" charset="0"/>
                <a:cs typeface="Times New Roman" panose="02020603050405020304" pitchFamily="18" charset="0"/>
              </a:rPr>
              <a:t>3</a:t>
            </a:fld>
            <a:endParaRPr spc="-50" dirty="0">
              <a:latin typeface="Times New Roman" panose="02020603050405020304" pitchFamily="18" charset="0"/>
              <a:cs typeface="Times New Roman" panose="02020603050405020304" pitchFamily="18" charset="0"/>
            </a:endParaRPr>
          </a:p>
        </p:txBody>
      </p:sp>
      <p:sp>
        <p:nvSpPr>
          <p:cNvPr id="32" name="object 9">
            <a:extLst>
              <a:ext uri="{FF2B5EF4-FFF2-40B4-BE49-F238E27FC236}">
                <a16:creationId xmlns:a16="http://schemas.microsoft.com/office/drawing/2014/main" id="{9E23478E-CEFF-2909-C4BA-80DAE1637133}"/>
              </a:ext>
            </a:extLst>
          </p:cNvPr>
          <p:cNvSpPr txBox="1"/>
          <p:nvPr/>
        </p:nvSpPr>
        <p:spPr>
          <a:xfrm>
            <a:off x="2647885" y="3293571"/>
            <a:ext cx="8699500" cy="2778453"/>
          </a:xfrm>
          <a:prstGeom prst="rect">
            <a:avLst/>
          </a:prstGeom>
          <a:solidFill>
            <a:srgbClr val="F1F1F1"/>
          </a:solidFill>
          <a:ln w="25400">
            <a:solidFill>
              <a:srgbClr val="D9D9D9"/>
            </a:solidFill>
          </a:ln>
        </p:spPr>
        <p:txBody>
          <a:bodyPr vert="horz" wrap="square" lIns="0" tIns="41275" rIns="0" bIns="0" rtlCol="0">
            <a:spAutoFit/>
          </a:bodyPr>
          <a:lstStyle/>
          <a:p>
            <a:pPr algn="l">
              <a:lnSpc>
                <a:spcPct val="150000"/>
              </a:lnSpc>
            </a:pPr>
            <a:r>
              <a:rPr lang="en-US" sz="1200" b="1" dirty="0">
                <a:solidFill>
                  <a:srgbClr val="000047"/>
                </a:solidFill>
                <a:latin typeface="Times New Roman" panose="02020603050405020304" pitchFamily="18" charset="0"/>
                <a:cs typeface="Times New Roman" panose="02020603050405020304" pitchFamily="18" charset="0"/>
              </a:rPr>
              <a:t>Primary Benefits:</a:t>
            </a:r>
            <a:br>
              <a:rPr lang="en-US" sz="1200" dirty="0">
                <a:solidFill>
                  <a:srgbClr val="000047"/>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Provides for real-time detection and prevention of fraudulent transactions thereby making the process of digital payments much more secure.</a:t>
            </a:r>
          </a:p>
          <a:p>
            <a:pPr algn="l">
              <a:lnSpc>
                <a:spcPct val="150000"/>
              </a:lnSpc>
            </a:pPr>
            <a:r>
              <a:rPr lang="en-US" sz="1200" b="1" dirty="0">
                <a:solidFill>
                  <a:srgbClr val="000047"/>
                </a:solidFill>
                <a:latin typeface="Times New Roman" panose="02020603050405020304" pitchFamily="18" charset="0"/>
                <a:cs typeface="Times New Roman" panose="02020603050405020304" pitchFamily="18" charset="0"/>
              </a:rPr>
              <a:t>Efficiency &amp; Flexibility:</a:t>
            </a:r>
            <a:br>
              <a:rPr lang="en-US" sz="1200" dirty="0">
                <a:solidFill>
                  <a:srgbClr val="000047"/>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Automated monitoring of fraud using AI technology which dynamically adapts according to changes in user behaviors and transactions.</a:t>
            </a:r>
          </a:p>
          <a:p>
            <a:pPr algn="l">
              <a:lnSpc>
                <a:spcPct val="150000"/>
              </a:lnSpc>
            </a:pPr>
            <a:r>
              <a:rPr lang="en-US" sz="1200" b="1" dirty="0">
                <a:solidFill>
                  <a:srgbClr val="000047"/>
                </a:solidFill>
                <a:latin typeface="Times New Roman" panose="02020603050405020304" pitchFamily="18" charset="0"/>
                <a:cs typeface="Times New Roman" panose="02020603050405020304" pitchFamily="18" charset="0"/>
              </a:rPr>
              <a:t>Time &amp; Cost Saving:</a:t>
            </a:r>
            <a:br>
              <a:rPr lang="en-US" sz="1200" dirty="0">
                <a:solidFill>
                  <a:srgbClr val="000047"/>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Reduces financial loss and saves time required to analyze fraud manually.</a:t>
            </a:r>
          </a:p>
          <a:p>
            <a:pPr algn="l">
              <a:lnSpc>
                <a:spcPct val="150000"/>
              </a:lnSpc>
            </a:pPr>
            <a:r>
              <a:rPr lang="en-US" sz="1200" b="1" dirty="0">
                <a:solidFill>
                  <a:srgbClr val="000047"/>
                </a:solidFill>
                <a:latin typeface="Times New Roman" panose="02020603050405020304" pitchFamily="18" charset="0"/>
                <a:cs typeface="Times New Roman" panose="02020603050405020304" pitchFamily="18" charset="0"/>
              </a:rPr>
              <a:t>Scalability:</a:t>
            </a:r>
            <a:br>
              <a:rPr lang="en-US" sz="1200" dirty="0">
                <a:solidFill>
                  <a:srgbClr val="000047"/>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Scalable within banking institutions and fintech applications that handle high transaction volumes.</a:t>
            </a:r>
          </a:p>
          <a:p>
            <a:pPr algn="l">
              <a:lnSpc>
                <a:spcPct val="150000"/>
              </a:lnSpc>
            </a:pPr>
            <a:r>
              <a:rPr lang="en-US" sz="1200" b="1" dirty="0">
                <a:solidFill>
                  <a:srgbClr val="000047"/>
                </a:solidFill>
                <a:latin typeface="Times New Roman" panose="02020603050405020304" pitchFamily="18" charset="0"/>
                <a:cs typeface="Times New Roman" panose="02020603050405020304" pitchFamily="18" charset="0"/>
              </a:rPr>
              <a:t>Social Impact:</a:t>
            </a:r>
            <a:br>
              <a:rPr lang="en-US" sz="1200" dirty="0">
                <a:solidFill>
                  <a:srgbClr val="000047"/>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Enhances trust in digital transactions by ensuring safer, more transparent, and secure payment experiences for users.</a:t>
            </a:r>
          </a:p>
        </p:txBody>
      </p:sp>
    </p:spTree>
    <p:extLst>
      <p:ext uri="{BB962C8B-B14F-4D97-AF65-F5344CB8AC3E}">
        <p14:creationId xmlns:p14="http://schemas.microsoft.com/office/powerpoint/2010/main" val="3947117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296379" y="861518"/>
            <a:ext cx="11545838" cy="5516200"/>
          </a:xfrm>
          <a:custGeom>
            <a:avLst/>
            <a:gdLst/>
            <a:ahLst/>
            <a:cxnLst/>
            <a:rect l="l" t="t" r="r" b="b"/>
            <a:pathLst>
              <a:path w="11409045" h="5417820">
                <a:moveTo>
                  <a:pt x="11408791" y="0"/>
                </a:moveTo>
                <a:lnTo>
                  <a:pt x="0" y="0"/>
                </a:lnTo>
                <a:lnTo>
                  <a:pt x="0" y="5417566"/>
                </a:lnTo>
                <a:lnTo>
                  <a:pt x="11408791" y="5417566"/>
                </a:lnTo>
                <a:lnTo>
                  <a:pt x="11408791" y="0"/>
                </a:lnTo>
                <a:close/>
              </a:path>
            </a:pathLst>
          </a:custGeom>
          <a:solidFill>
            <a:srgbClr val="F1F1F1"/>
          </a:solidFill>
        </p:spPr>
        <p:txBody>
          <a:bodyPr wrap="square" lIns="0" tIns="0" rIns="0" bIns="0" rtlCol="0"/>
          <a:lstStyle/>
          <a:p>
            <a:r>
              <a:rPr lang="en-US">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5" name="object 5"/>
          <p:cNvSpPr txBox="1">
            <a:spLocks noGrp="1"/>
          </p:cNvSpPr>
          <p:nvPr>
            <p:ph type="title"/>
          </p:nvPr>
        </p:nvSpPr>
        <p:spPr>
          <a:xfrm>
            <a:off x="830681" y="220802"/>
            <a:ext cx="9289415" cy="503728"/>
          </a:xfrm>
          <a:prstGeom prst="rect">
            <a:avLst/>
          </a:prstGeom>
        </p:spPr>
        <p:txBody>
          <a:bodyPr vert="horz" wrap="square" lIns="0" tIns="133096" rIns="0" bIns="0" rtlCol="0">
            <a:spAutoFit/>
          </a:bodyPr>
          <a:lstStyle/>
          <a:p>
            <a:pPr marL="300355">
              <a:lnSpc>
                <a:spcPct val="100000"/>
              </a:lnSpc>
              <a:spcBef>
                <a:spcPts val="100"/>
              </a:spcBef>
            </a:pPr>
            <a:r>
              <a:rPr sz="2400" b="1" dirty="0">
                <a:solidFill>
                  <a:srgbClr val="000047"/>
                </a:solidFill>
                <a:latin typeface="Times New Roman" panose="02020603050405020304" pitchFamily="18" charset="0"/>
                <a:cs typeface="Times New Roman" panose="02020603050405020304" pitchFamily="18" charset="0"/>
              </a:rPr>
              <a:t>Financials</a:t>
            </a:r>
            <a:r>
              <a:rPr sz="2400" b="1" spc="-55" dirty="0">
                <a:solidFill>
                  <a:srgbClr val="000047"/>
                </a:solidFill>
                <a:latin typeface="Times New Roman" panose="02020603050405020304" pitchFamily="18" charset="0"/>
                <a:cs typeface="Times New Roman" panose="02020603050405020304" pitchFamily="18" charset="0"/>
              </a:rPr>
              <a:t> </a:t>
            </a:r>
            <a:r>
              <a:rPr sz="2400" b="1" dirty="0">
                <a:solidFill>
                  <a:srgbClr val="000047"/>
                </a:solidFill>
                <a:latin typeface="Times New Roman" panose="02020603050405020304" pitchFamily="18" charset="0"/>
                <a:cs typeface="Times New Roman" panose="02020603050405020304" pitchFamily="18" charset="0"/>
              </a:rPr>
              <a:t>&amp;</a:t>
            </a:r>
            <a:r>
              <a:rPr sz="2400" b="1" spc="-35" dirty="0">
                <a:solidFill>
                  <a:srgbClr val="000047"/>
                </a:solidFill>
                <a:latin typeface="Times New Roman" panose="02020603050405020304" pitchFamily="18" charset="0"/>
                <a:cs typeface="Times New Roman" panose="02020603050405020304" pitchFamily="18" charset="0"/>
              </a:rPr>
              <a:t> </a:t>
            </a:r>
            <a:r>
              <a:rPr sz="2400" b="1" dirty="0">
                <a:solidFill>
                  <a:srgbClr val="000047"/>
                </a:solidFill>
                <a:latin typeface="Times New Roman" panose="02020603050405020304" pitchFamily="18" charset="0"/>
                <a:cs typeface="Times New Roman" panose="02020603050405020304" pitchFamily="18" charset="0"/>
              </a:rPr>
              <a:t>Timelines</a:t>
            </a:r>
            <a:r>
              <a:rPr sz="2400" b="1" spc="-55" dirty="0">
                <a:solidFill>
                  <a:srgbClr val="000047"/>
                </a:solidFill>
                <a:latin typeface="Times New Roman" panose="02020603050405020304" pitchFamily="18" charset="0"/>
                <a:cs typeface="Times New Roman" panose="02020603050405020304" pitchFamily="18" charset="0"/>
              </a:rPr>
              <a:t> </a:t>
            </a:r>
            <a:r>
              <a:rPr sz="2400" b="1" dirty="0">
                <a:solidFill>
                  <a:srgbClr val="000047"/>
                </a:solidFill>
                <a:latin typeface="Times New Roman" panose="02020603050405020304" pitchFamily="18" charset="0"/>
                <a:cs typeface="Times New Roman" panose="02020603050405020304" pitchFamily="18" charset="0"/>
              </a:rPr>
              <a:t>|</a:t>
            </a:r>
            <a:r>
              <a:rPr sz="2400" b="1" spc="-35" dirty="0">
                <a:solidFill>
                  <a:srgbClr val="000047"/>
                </a:solidFill>
                <a:latin typeface="Times New Roman" panose="02020603050405020304" pitchFamily="18" charset="0"/>
                <a:cs typeface="Times New Roman" panose="02020603050405020304" pitchFamily="18" charset="0"/>
              </a:rPr>
              <a:t> </a:t>
            </a:r>
            <a:r>
              <a:rPr sz="2400" b="1" dirty="0">
                <a:solidFill>
                  <a:srgbClr val="000047"/>
                </a:solidFill>
                <a:latin typeface="Times New Roman" panose="02020603050405020304" pitchFamily="18" charset="0"/>
                <a:cs typeface="Times New Roman" panose="02020603050405020304" pitchFamily="18" charset="0"/>
              </a:rPr>
              <a:t>Business</a:t>
            </a:r>
            <a:r>
              <a:rPr sz="2400" b="1" spc="-30" dirty="0">
                <a:solidFill>
                  <a:srgbClr val="000047"/>
                </a:solidFill>
                <a:latin typeface="Times New Roman" panose="02020603050405020304" pitchFamily="18" charset="0"/>
                <a:cs typeface="Times New Roman" panose="02020603050405020304" pitchFamily="18" charset="0"/>
              </a:rPr>
              <a:t> </a:t>
            </a:r>
            <a:r>
              <a:rPr sz="2400" b="1" dirty="0">
                <a:solidFill>
                  <a:srgbClr val="000047"/>
                </a:solidFill>
                <a:latin typeface="Times New Roman" panose="02020603050405020304" pitchFamily="18" charset="0"/>
                <a:cs typeface="Times New Roman" panose="02020603050405020304" pitchFamily="18" charset="0"/>
              </a:rPr>
              <a:t>Plan</a:t>
            </a:r>
            <a:r>
              <a:rPr sz="2400" b="1" spc="-55" dirty="0">
                <a:solidFill>
                  <a:srgbClr val="000047"/>
                </a:solidFill>
                <a:latin typeface="Times New Roman" panose="02020603050405020304" pitchFamily="18" charset="0"/>
                <a:cs typeface="Times New Roman" panose="02020603050405020304" pitchFamily="18" charset="0"/>
              </a:rPr>
              <a:t> </a:t>
            </a:r>
            <a:r>
              <a:rPr sz="2400" b="1" spc="-10" dirty="0">
                <a:solidFill>
                  <a:srgbClr val="000047"/>
                </a:solidFill>
                <a:latin typeface="Times New Roman" panose="02020603050405020304" pitchFamily="18" charset="0"/>
                <a:cs typeface="Times New Roman" panose="02020603050405020304" pitchFamily="18" charset="0"/>
              </a:rPr>
              <a:t>(2/2)</a:t>
            </a:r>
            <a:endParaRPr sz="2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604278" y="1419326"/>
            <a:ext cx="2014220" cy="407804"/>
          </a:xfrm>
          <a:prstGeom prst="rect">
            <a:avLst/>
          </a:prstGeom>
          <a:solidFill>
            <a:srgbClr val="000047"/>
          </a:solidFill>
        </p:spPr>
        <p:txBody>
          <a:bodyPr vert="horz" wrap="square" lIns="0" tIns="38100" rIns="0" bIns="0" rtlCol="0">
            <a:spAutoFit/>
          </a:bodyPr>
          <a:lstStyle/>
          <a:p>
            <a:pPr marL="117475">
              <a:lnSpc>
                <a:spcPct val="100000"/>
              </a:lnSpc>
              <a:spcBef>
                <a:spcPts val="300"/>
              </a:spcBef>
            </a:pPr>
            <a:r>
              <a:rPr sz="2400" b="1" spc="-10" dirty="0">
                <a:solidFill>
                  <a:srgbClr val="FFFFFF"/>
                </a:solidFill>
                <a:latin typeface="Times New Roman" panose="02020603050405020304" pitchFamily="18" charset="0"/>
                <a:cs typeface="Times New Roman" panose="02020603050405020304" pitchFamily="18" charset="0"/>
              </a:rPr>
              <a:t>Investments</a:t>
            </a:r>
            <a:endParaRPr sz="2400">
              <a:latin typeface="Times New Roman" panose="02020603050405020304" pitchFamily="18" charset="0"/>
              <a:cs typeface="Times New Roman" panose="02020603050405020304" pitchFamily="18" charset="0"/>
            </a:endParaRPr>
          </a:p>
        </p:txBody>
      </p:sp>
      <p:sp>
        <p:nvSpPr>
          <p:cNvPr id="7" name="object 7"/>
          <p:cNvSpPr txBox="1"/>
          <p:nvPr/>
        </p:nvSpPr>
        <p:spPr>
          <a:xfrm>
            <a:off x="683158" y="1946529"/>
            <a:ext cx="2453005" cy="452755"/>
          </a:xfrm>
          <a:prstGeom prst="rect">
            <a:avLst/>
          </a:prstGeom>
        </p:spPr>
        <p:txBody>
          <a:bodyPr vert="horz" wrap="square" lIns="0" tIns="13335" rIns="0" bIns="0" rtlCol="0">
            <a:spAutoFit/>
          </a:bodyPr>
          <a:lstStyle/>
          <a:p>
            <a:pPr marL="12700" marR="5080">
              <a:lnSpc>
                <a:spcPct val="100000"/>
              </a:lnSpc>
              <a:spcBef>
                <a:spcPts val="105"/>
              </a:spcBef>
            </a:pPr>
            <a:r>
              <a:rPr sz="1400" i="1" dirty="0">
                <a:solidFill>
                  <a:srgbClr val="000047"/>
                </a:solidFill>
                <a:latin typeface="Times New Roman" panose="02020603050405020304" pitchFamily="18" charset="0"/>
                <a:cs typeface="Times New Roman" panose="02020603050405020304" pitchFamily="18" charset="0"/>
              </a:rPr>
              <a:t>What</a:t>
            </a:r>
            <a:r>
              <a:rPr sz="1400" i="1" spc="-50"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does</a:t>
            </a:r>
            <a:r>
              <a:rPr sz="1400" i="1" spc="-15"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it</a:t>
            </a:r>
            <a:r>
              <a:rPr sz="1400" i="1" spc="-15"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take</a:t>
            </a:r>
            <a:r>
              <a:rPr sz="1400" i="1" spc="-30"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&amp;</a:t>
            </a:r>
            <a:r>
              <a:rPr sz="1400" i="1" spc="5"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How</a:t>
            </a:r>
            <a:r>
              <a:rPr sz="1400" i="1" spc="-15" dirty="0">
                <a:solidFill>
                  <a:srgbClr val="000047"/>
                </a:solidFill>
                <a:latin typeface="Times New Roman" panose="02020603050405020304" pitchFamily="18" charset="0"/>
                <a:cs typeface="Times New Roman" panose="02020603050405020304" pitchFamily="18" charset="0"/>
              </a:rPr>
              <a:t> </a:t>
            </a:r>
            <a:r>
              <a:rPr sz="1400" i="1" spc="-20" dirty="0">
                <a:solidFill>
                  <a:srgbClr val="000047"/>
                </a:solidFill>
                <a:latin typeface="Times New Roman" panose="02020603050405020304" pitchFamily="18" charset="0"/>
                <a:cs typeface="Times New Roman" panose="02020603050405020304" pitchFamily="18" charset="0"/>
              </a:rPr>
              <a:t>much </a:t>
            </a:r>
            <a:r>
              <a:rPr sz="1400" i="1" dirty="0">
                <a:solidFill>
                  <a:srgbClr val="000047"/>
                </a:solidFill>
                <a:latin typeface="Times New Roman" panose="02020603050405020304" pitchFamily="18" charset="0"/>
                <a:cs typeface="Times New Roman" panose="02020603050405020304" pitchFamily="18" charset="0"/>
              </a:rPr>
              <a:t>does</a:t>
            </a:r>
            <a:r>
              <a:rPr sz="1400" i="1" spc="-30"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it cost</a:t>
            </a:r>
            <a:r>
              <a:rPr sz="1400" i="1" spc="-30"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to</a:t>
            </a:r>
            <a:r>
              <a:rPr sz="1400" i="1" spc="-20" dirty="0">
                <a:solidFill>
                  <a:srgbClr val="000047"/>
                </a:solidFill>
                <a:latin typeface="Times New Roman" panose="02020603050405020304" pitchFamily="18" charset="0"/>
                <a:cs typeface="Times New Roman" panose="02020603050405020304" pitchFamily="18" charset="0"/>
              </a:rPr>
              <a:t> </a:t>
            </a:r>
            <a:r>
              <a:rPr sz="1400" i="1" spc="-10" dirty="0">
                <a:solidFill>
                  <a:srgbClr val="000047"/>
                </a:solidFill>
                <a:latin typeface="Times New Roman" panose="02020603050405020304" pitchFamily="18" charset="0"/>
                <a:cs typeface="Times New Roman" panose="02020603050405020304" pitchFamily="18" charset="0"/>
              </a:rPr>
              <a:t>solve?</a:t>
            </a:r>
            <a:endParaRPr sz="1400">
              <a:latin typeface="Times New Roman" panose="02020603050405020304" pitchFamily="18" charset="0"/>
              <a:cs typeface="Times New Roman" panose="02020603050405020304" pitchFamily="18" charset="0"/>
            </a:endParaRPr>
          </a:p>
        </p:txBody>
      </p:sp>
      <p:sp>
        <p:nvSpPr>
          <p:cNvPr id="8" name="object 8"/>
          <p:cNvSpPr txBox="1"/>
          <p:nvPr/>
        </p:nvSpPr>
        <p:spPr>
          <a:xfrm>
            <a:off x="9398634" y="3329660"/>
            <a:ext cx="2014220" cy="408445"/>
          </a:xfrm>
          <a:prstGeom prst="rect">
            <a:avLst/>
          </a:prstGeom>
          <a:solidFill>
            <a:srgbClr val="000047"/>
          </a:solidFill>
        </p:spPr>
        <p:txBody>
          <a:bodyPr vert="horz" wrap="square" lIns="0" tIns="38735" rIns="0" bIns="0" rtlCol="0">
            <a:spAutoFit/>
          </a:bodyPr>
          <a:lstStyle/>
          <a:p>
            <a:pPr marL="432434">
              <a:lnSpc>
                <a:spcPct val="100000"/>
              </a:lnSpc>
              <a:spcBef>
                <a:spcPts val="305"/>
              </a:spcBef>
            </a:pPr>
            <a:r>
              <a:rPr sz="2400" b="1" spc="-10" dirty="0">
                <a:solidFill>
                  <a:srgbClr val="FFFFFF"/>
                </a:solidFill>
                <a:latin typeface="Times New Roman" panose="02020603050405020304" pitchFamily="18" charset="0"/>
                <a:cs typeface="Times New Roman" panose="02020603050405020304" pitchFamily="18" charset="0"/>
              </a:rPr>
              <a:t>Returns</a:t>
            </a:r>
            <a:endParaRPr sz="2400">
              <a:latin typeface="Times New Roman" panose="02020603050405020304" pitchFamily="18" charset="0"/>
              <a:cs typeface="Times New Roman" panose="02020603050405020304" pitchFamily="18" charset="0"/>
            </a:endParaRPr>
          </a:p>
        </p:txBody>
      </p:sp>
      <p:sp>
        <p:nvSpPr>
          <p:cNvPr id="9" name="object 9"/>
          <p:cNvSpPr txBox="1"/>
          <p:nvPr/>
        </p:nvSpPr>
        <p:spPr>
          <a:xfrm>
            <a:off x="9478771" y="3882897"/>
            <a:ext cx="1819275" cy="452755"/>
          </a:xfrm>
          <a:prstGeom prst="rect">
            <a:avLst/>
          </a:prstGeom>
        </p:spPr>
        <p:txBody>
          <a:bodyPr vert="horz" wrap="square" lIns="0" tIns="12700" rIns="0" bIns="0" rtlCol="0">
            <a:spAutoFit/>
          </a:bodyPr>
          <a:lstStyle/>
          <a:p>
            <a:pPr marL="12700">
              <a:lnSpc>
                <a:spcPct val="100000"/>
              </a:lnSpc>
              <a:spcBef>
                <a:spcPts val="100"/>
              </a:spcBef>
            </a:pPr>
            <a:r>
              <a:rPr sz="1400" i="1" dirty="0">
                <a:solidFill>
                  <a:srgbClr val="000047"/>
                </a:solidFill>
                <a:latin typeface="Times New Roman" panose="02020603050405020304" pitchFamily="18" charset="0"/>
                <a:cs typeface="Times New Roman" panose="02020603050405020304" pitchFamily="18" charset="0"/>
              </a:rPr>
              <a:t>Quantify</a:t>
            </a:r>
            <a:r>
              <a:rPr sz="1400" i="1" spc="-40"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the</a:t>
            </a:r>
            <a:r>
              <a:rPr sz="1400" i="1" spc="-30"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benefits</a:t>
            </a:r>
            <a:r>
              <a:rPr sz="1400" i="1" spc="-35" dirty="0">
                <a:solidFill>
                  <a:srgbClr val="000047"/>
                </a:solidFill>
                <a:latin typeface="Times New Roman" panose="02020603050405020304" pitchFamily="18" charset="0"/>
                <a:cs typeface="Times New Roman" panose="02020603050405020304" pitchFamily="18" charset="0"/>
              </a:rPr>
              <a:t> </a:t>
            </a:r>
            <a:r>
              <a:rPr sz="1400" i="1" spc="-50" dirty="0">
                <a:solidFill>
                  <a:srgbClr val="000047"/>
                </a:solidFill>
                <a:latin typeface="Times New Roman" panose="02020603050405020304" pitchFamily="18" charset="0"/>
                <a:cs typeface="Times New Roman" panose="02020603050405020304" pitchFamily="18" charset="0"/>
              </a:rPr>
              <a:t>&amp;</a:t>
            </a:r>
            <a:endParaRPr sz="1400">
              <a:latin typeface="Times New Roman" panose="02020603050405020304" pitchFamily="18" charset="0"/>
              <a:cs typeface="Times New Roman" panose="02020603050405020304" pitchFamily="18" charset="0"/>
            </a:endParaRPr>
          </a:p>
          <a:p>
            <a:pPr marL="12700">
              <a:lnSpc>
                <a:spcPct val="100000"/>
              </a:lnSpc>
              <a:spcBef>
                <a:spcPts val="5"/>
              </a:spcBef>
            </a:pPr>
            <a:r>
              <a:rPr sz="1400" i="1" dirty="0">
                <a:solidFill>
                  <a:srgbClr val="000047"/>
                </a:solidFill>
                <a:latin typeface="Times New Roman" panose="02020603050405020304" pitchFamily="18" charset="0"/>
                <a:cs typeface="Times New Roman" panose="02020603050405020304" pitchFamily="18" charset="0"/>
              </a:rPr>
              <a:t>What</a:t>
            </a:r>
            <a:r>
              <a:rPr sz="1400" i="1" spc="-55"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if</a:t>
            </a:r>
            <a:r>
              <a:rPr sz="1400" i="1" spc="-5"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I</a:t>
            </a:r>
            <a:r>
              <a:rPr sz="1400" i="1" spc="-20"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don’t</a:t>
            </a:r>
            <a:r>
              <a:rPr sz="1400" i="1" spc="5" dirty="0">
                <a:solidFill>
                  <a:srgbClr val="000047"/>
                </a:solidFill>
                <a:latin typeface="Times New Roman" panose="02020603050405020304" pitchFamily="18" charset="0"/>
                <a:cs typeface="Times New Roman" panose="02020603050405020304" pitchFamily="18" charset="0"/>
              </a:rPr>
              <a:t> </a:t>
            </a:r>
            <a:r>
              <a:rPr sz="1400" i="1" spc="-10" dirty="0">
                <a:solidFill>
                  <a:srgbClr val="000047"/>
                </a:solidFill>
                <a:latin typeface="Times New Roman" panose="02020603050405020304" pitchFamily="18" charset="0"/>
                <a:cs typeface="Times New Roman" panose="02020603050405020304" pitchFamily="18" charset="0"/>
              </a:rPr>
              <a:t>solve?</a:t>
            </a:r>
            <a:endParaRPr sz="1400">
              <a:latin typeface="Times New Roman" panose="02020603050405020304" pitchFamily="18" charset="0"/>
              <a:cs typeface="Times New Roman" panose="02020603050405020304" pitchFamily="18" charset="0"/>
            </a:endParaRPr>
          </a:p>
        </p:txBody>
      </p:sp>
      <p:sp>
        <p:nvSpPr>
          <p:cNvPr id="10" name="object 10"/>
          <p:cNvSpPr txBox="1"/>
          <p:nvPr/>
        </p:nvSpPr>
        <p:spPr>
          <a:xfrm>
            <a:off x="604278" y="4981803"/>
            <a:ext cx="2014220" cy="408445"/>
          </a:xfrm>
          <a:prstGeom prst="rect">
            <a:avLst/>
          </a:prstGeom>
          <a:solidFill>
            <a:srgbClr val="000047"/>
          </a:solidFill>
        </p:spPr>
        <p:txBody>
          <a:bodyPr vert="horz" wrap="square" lIns="0" tIns="38735" rIns="0" bIns="0" rtlCol="0">
            <a:spAutoFit/>
          </a:bodyPr>
          <a:lstStyle/>
          <a:p>
            <a:pPr marL="306705">
              <a:lnSpc>
                <a:spcPct val="100000"/>
              </a:lnSpc>
              <a:spcBef>
                <a:spcPts val="305"/>
              </a:spcBef>
            </a:pPr>
            <a:r>
              <a:rPr sz="2400" b="1" spc="-10" dirty="0">
                <a:solidFill>
                  <a:srgbClr val="FFFFFF"/>
                </a:solidFill>
                <a:latin typeface="Times New Roman" panose="02020603050405020304" pitchFamily="18" charset="0"/>
                <a:cs typeface="Times New Roman" panose="02020603050405020304" pitchFamily="18" charset="0"/>
              </a:rPr>
              <a:t>Timelines</a:t>
            </a:r>
            <a:endParaRPr sz="2400">
              <a:latin typeface="Times New Roman" panose="02020603050405020304" pitchFamily="18" charset="0"/>
              <a:cs typeface="Times New Roman" panose="02020603050405020304" pitchFamily="18" charset="0"/>
            </a:endParaRPr>
          </a:p>
        </p:txBody>
      </p:sp>
      <p:sp>
        <p:nvSpPr>
          <p:cNvPr id="11" name="object 11"/>
          <p:cNvSpPr txBox="1"/>
          <p:nvPr/>
        </p:nvSpPr>
        <p:spPr>
          <a:xfrm>
            <a:off x="683158" y="5520334"/>
            <a:ext cx="1856739" cy="228268"/>
          </a:xfrm>
          <a:prstGeom prst="rect">
            <a:avLst/>
          </a:prstGeom>
        </p:spPr>
        <p:txBody>
          <a:bodyPr vert="horz" wrap="square" lIns="0" tIns="12700" rIns="0" bIns="0" rtlCol="0">
            <a:spAutoFit/>
          </a:bodyPr>
          <a:lstStyle/>
          <a:p>
            <a:pPr marL="12700">
              <a:lnSpc>
                <a:spcPct val="100000"/>
              </a:lnSpc>
              <a:spcBef>
                <a:spcPts val="100"/>
              </a:spcBef>
            </a:pPr>
            <a:r>
              <a:rPr sz="1400" i="1" dirty="0">
                <a:solidFill>
                  <a:srgbClr val="000047"/>
                </a:solidFill>
                <a:latin typeface="Times New Roman" panose="02020603050405020304" pitchFamily="18" charset="0"/>
                <a:cs typeface="Times New Roman" panose="02020603050405020304" pitchFamily="18" charset="0"/>
              </a:rPr>
              <a:t>Time</a:t>
            </a:r>
            <a:r>
              <a:rPr sz="1400" i="1" spc="-35"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to</a:t>
            </a:r>
            <a:r>
              <a:rPr sz="1400" i="1" spc="-45" dirty="0">
                <a:solidFill>
                  <a:srgbClr val="000047"/>
                </a:solidFill>
                <a:latin typeface="Times New Roman" panose="02020603050405020304" pitchFamily="18" charset="0"/>
                <a:cs typeface="Times New Roman" panose="02020603050405020304" pitchFamily="18" charset="0"/>
              </a:rPr>
              <a:t> </a:t>
            </a:r>
            <a:r>
              <a:rPr sz="1400" i="1" dirty="0">
                <a:solidFill>
                  <a:srgbClr val="000047"/>
                </a:solidFill>
                <a:latin typeface="Times New Roman" panose="02020603050405020304" pitchFamily="18" charset="0"/>
                <a:cs typeface="Times New Roman" panose="02020603050405020304" pitchFamily="18" charset="0"/>
              </a:rPr>
              <a:t>realize</a:t>
            </a:r>
            <a:r>
              <a:rPr sz="1400" i="1" spc="-10" dirty="0">
                <a:solidFill>
                  <a:srgbClr val="000047"/>
                </a:solidFill>
                <a:latin typeface="Times New Roman" panose="02020603050405020304" pitchFamily="18" charset="0"/>
                <a:cs typeface="Times New Roman" panose="02020603050405020304" pitchFamily="18" charset="0"/>
              </a:rPr>
              <a:t> benefits</a:t>
            </a:r>
            <a:endParaRPr sz="1400">
              <a:latin typeface="Times New Roman" panose="02020603050405020304" pitchFamily="18" charset="0"/>
              <a:cs typeface="Times New Roman" panose="02020603050405020304" pitchFamily="18" charset="0"/>
            </a:endParaRPr>
          </a:p>
        </p:txBody>
      </p:sp>
      <p:sp>
        <p:nvSpPr>
          <p:cNvPr id="12" name="object 12"/>
          <p:cNvSpPr/>
          <p:nvPr/>
        </p:nvSpPr>
        <p:spPr>
          <a:xfrm>
            <a:off x="633247" y="1261719"/>
            <a:ext cx="10779760" cy="4777740"/>
          </a:xfrm>
          <a:custGeom>
            <a:avLst/>
            <a:gdLst/>
            <a:ahLst/>
            <a:cxnLst/>
            <a:rect l="l" t="t" r="r" b="b"/>
            <a:pathLst>
              <a:path w="10779760" h="4777740">
                <a:moveTo>
                  <a:pt x="2811754" y="1197254"/>
                </a:moveTo>
                <a:lnTo>
                  <a:pt x="10779353" y="1197254"/>
                </a:lnTo>
                <a:lnTo>
                  <a:pt x="10779353" y="0"/>
                </a:lnTo>
                <a:lnTo>
                  <a:pt x="2811754" y="0"/>
                </a:lnTo>
                <a:lnTo>
                  <a:pt x="2811754" y="1197254"/>
                </a:lnTo>
                <a:close/>
              </a:path>
              <a:path w="10779760" h="4777740">
                <a:moveTo>
                  <a:pt x="0" y="3073044"/>
                </a:moveTo>
                <a:lnTo>
                  <a:pt x="8377555" y="3073044"/>
                </a:lnTo>
                <a:lnTo>
                  <a:pt x="8377555" y="1875789"/>
                </a:lnTo>
                <a:lnTo>
                  <a:pt x="0" y="1875789"/>
                </a:lnTo>
                <a:lnTo>
                  <a:pt x="0" y="3073044"/>
                </a:lnTo>
                <a:close/>
              </a:path>
              <a:path w="10779760" h="4777740">
                <a:moveTo>
                  <a:pt x="2811754" y="4777689"/>
                </a:moveTo>
                <a:lnTo>
                  <a:pt x="10779353" y="4777689"/>
                </a:lnTo>
                <a:lnTo>
                  <a:pt x="10779353" y="3580434"/>
                </a:lnTo>
                <a:lnTo>
                  <a:pt x="2811754" y="3580434"/>
                </a:lnTo>
                <a:lnTo>
                  <a:pt x="2811754" y="4777689"/>
                </a:lnTo>
                <a:close/>
              </a:path>
            </a:pathLst>
          </a:custGeom>
          <a:ln w="12700">
            <a:solidFill>
              <a:srgbClr val="BEBEBE"/>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13" name="object 13"/>
          <p:cNvPicPr/>
          <p:nvPr/>
        </p:nvPicPr>
        <p:blipFill>
          <a:blip r:embed="rId2" cstate="print"/>
          <a:stretch>
            <a:fillRect/>
          </a:stretch>
        </p:blipFill>
        <p:spPr>
          <a:xfrm>
            <a:off x="366941" y="318058"/>
            <a:ext cx="473963" cy="473913"/>
          </a:xfrm>
          <a:prstGeom prst="rect">
            <a:avLst/>
          </a:prstGeom>
        </p:spPr>
      </p:pic>
      <p:sp>
        <p:nvSpPr>
          <p:cNvPr id="14" name="object 14"/>
          <p:cNvSpPr txBox="1">
            <a:spLocks noGrp="1"/>
          </p:cNvSpPr>
          <p:nvPr>
            <p:ph type="ftr" sz="quarter" idx="5"/>
          </p:nvPr>
        </p:nvSpPr>
        <p:spPr>
          <a:xfrm>
            <a:off x="993139" y="6441888"/>
            <a:ext cx="1423670" cy="111569"/>
          </a:xfrm>
          <a:prstGeom prst="rect">
            <a:avLst/>
          </a:prstGeom>
        </p:spPr>
        <p:txBody>
          <a:bodyPr vert="horz" wrap="square" lIns="0" tIns="3810" rIns="0" bIns="0" rtlCol="0">
            <a:spAutoFit/>
          </a:bodyPr>
          <a:lstStyle/>
          <a:p>
            <a:pPr marL="104139">
              <a:lnSpc>
                <a:spcPct val="100000"/>
              </a:lnSpc>
              <a:spcBef>
                <a:spcPts val="30"/>
              </a:spcBef>
            </a:pPr>
            <a:r>
              <a:rPr dirty="0">
                <a:latin typeface="Times New Roman" panose="02020603050405020304" pitchFamily="18" charset="0"/>
                <a:cs typeface="Times New Roman" panose="02020603050405020304" pitchFamily="18" charset="0"/>
              </a:rPr>
              <a:t>©</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2026–2027 Cognizant</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Private</a:t>
            </a:r>
          </a:p>
        </p:txBody>
      </p:sp>
      <p:sp>
        <p:nvSpPr>
          <p:cNvPr id="15" name="object 15"/>
          <p:cNvSpPr txBox="1">
            <a:spLocks noGrp="1"/>
          </p:cNvSpPr>
          <p:nvPr>
            <p:ph type="sldNum" sz="quarter" idx="7"/>
          </p:nvPr>
        </p:nvSpPr>
        <p:spPr>
          <a:xfrm>
            <a:off x="419100" y="6457128"/>
            <a:ext cx="148590" cy="173123"/>
          </a:xfrm>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latin typeface="Times New Roman" panose="02020603050405020304" pitchFamily="18" charset="0"/>
                <a:cs typeface="Times New Roman" panose="02020603050405020304" pitchFamily="18" charset="0"/>
              </a:rPr>
              <a:t>4</a:t>
            </a:fld>
            <a:endParaRPr spc="-5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29AC934D-EF88-A511-7C2C-A5C2CE5273E5}"/>
              </a:ext>
            </a:extLst>
          </p:cNvPr>
          <p:cNvSpPr txBox="1"/>
          <p:nvPr/>
        </p:nvSpPr>
        <p:spPr>
          <a:xfrm>
            <a:off x="3411893" y="1246171"/>
            <a:ext cx="8030083" cy="1444113"/>
          </a:xfrm>
          <a:prstGeom prst="rect">
            <a:avLst/>
          </a:prstGeom>
          <a:noFill/>
        </p:spPr>
        <p:txBody>
          <a:bodyPr wrap="square">
            <a:spAutoFit/>
          </a:bodyPr>
          <a:lstStyle/>
          <a:p>
            <a:pPr algn="l">
              <a:lnSpc>
                <a:spcPct val="150000"/>
              </a:lnSpc>
            </a:pPr>
            <a:r>
              <a:rPr lang="en-US" sz="1200" b="1" dirty="0">
                <a:solidFill>
                  <a:srgbClr val="000047"/>
                </a:solidFill>
              </a:rPr>
              <a:t>Cloud &amp; AI</a:t>
            </a:r>
            <a:r>
              <a:rPr lang="en-US" sz="1200" b="1" dirty="0"/>
              <a:t>:</a:t>
            </a:r>
            <a:r>
              <a:rPr lang="en-US" sz="1200" dirty="0"/>
              <a:t> Basic cloud deployment for backend APIs and real-time processing</a:t>
            </a:r>
            <a:br>
              <a:rPr lang="en-US" sz="1200" dirty="0"/>
            </a:br>
            <a:r>
              <a:rPr lang="en-US" sz="1200" b="1" dirty="0">
                <a:solidFill>
                  <a:srgbClr val="000047"/>
                </a:solidFill>
              </a:rPr>
              <a:t>Tools &amp; Dev</a:t>
            </a:r>
            <a:r>
              <a:rPr lang="en-US" sz="1200" b="1" dirty="0"/>
              <a:t>:</a:t>
            </a:r>
            <a:r>
              <a:rPr lang="en-US" sz="1200" dirty="0"/>
              <a:t> 100% open-source — Python, Flask, React, PostgreSQL, ML libraries</a:t>
            </a:r>
            <a:br>
              <a:rPr lang="en-US" sz="1200" dirty="0"/>
            </a:br>
            <a:r>
              <a:rPr lang="en-US" sz="1200" b="1" dirty="0">
                <a:solidFill>
                  <a:srgbClr val="000047"/>
                </a:solidFill>
              </a:rPr>
              <a:t>Team</a:t>
            </a:r>
            <a:r>
              <a:rPr lang="en-US" sz="1200" b="1" dirty="0"/>
              <a:t>:</a:t>
            </a:r>
            <a:r>
              <a:rPr lang="en-US" sz="1200" dirty="0"/>
              <a:t> Student developers, 4–6 weeks development effort</a:t>
            </a:r>
            <a:br>
              <a:rPr lang="en-US" sz="1200" dirty="0"/>
            </a:br>
            <a:r>
              <a:rPr lang="en-US" sz="1200" b="1" dirty="0">
                <a:solidFill>
                  <a:srgbClr val="000047"/>
                </a:solidFill>
              </a:rPr>
              <a:t>Total Cost</a:t>
            </a:r>
            <a:r>
              <a:rPr lang="en-US" sz="1200" b="1" dirty="0"/>
              <a:t>:</a:t>
            </a:r>
            <a:r>
              <a:rPr lang="en-US" sz="1200" dirty="0"/>
              <a:t> Low-cost implementation (~$5–$10 for prototype level)</a:t>
            </a:r>
            <a:endParaRPr lang="en-AE" sz="1200" dirty="0">
              <a:latin typeface="Times New Roman" panose="02020603050405020304" pitchFamily="18" charset="0"/>
              <a:cs typeface="Times New Roman" panose="02020603050405020304" pitchFamily="18" charset="0"/>
            </a:endParaRPr>
          </a:p>
          <a:p>
            <a:pPr algn="just">
              <a:lnSpc>
                <a:spcPct val="150000"/>
              </a:lnSpc>
            </a:pPr>
            <a:endParaRPr lang="en-US" sz="12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5C646A25-89B8-B45C-4484-2DA3FB8D4E39}"/>
              </a:ext>
            </a:extLst>
          </p:cNvPr>
          <p:cNvSpPr txBox="1"/>
          <p:nvPr/>
        </p:nvSpPr>
        <p:spPr>
          <a:xfrm>
            <a:off x="633247" y="3146712"/>
            <a:ext cx="8508155" cy="1166923"/>
          </a:xfrm>
          <a:prstGeom prst="rect">
            <a:avLst/>
          </a:prstGeom>
          <a:noFill/>
        </p:spPr>
        <p:txBody>
          <a:bodyPr wrap="square">
            <a:spAutoFit/>
          </a:bodyPr>
          <a:lstStyle/>
          <a:p>
            <a:pPr>
              <a:lnSpc>
                <a:spcPct val="150000"/>
              </a:lnSpc>
            </a:pPr>
            <a:r>
              <a:rPr lang="en-US" sz="1200" b="1" dirty="0">
                <a:solidFill>
                  <a:srgbClr val="000047"/>
                </a:solidFill>
              </a:rPr>
              <a:t>ROI</a:t>
            </a:r>
            <a:r>
              <a:rPr lang="en-US" sz="1200" b="1" dirty="0"/>
              <a:t>:</a:t>
            </a:r>
            <a:r>
              <a:rPr lang="en-US" sz="1200" dirty="0"/>
              <a:t> Reduction in financial fraud losses and faster fraud detection</a:t>
            </a:r>
            <a:br>
              <a:rPr lang="en-US" sz="1200" dirty="0"/>
            </a:br>
            <a:r>
              <a:rPr lang="en-US" sz="1200" b="1" dirty="0">
                <a:solidFill>
                  <a:srgbClr val="000047"/>
                </a:solidFill>
              </a:rPr>
              <a:t>Happy</a:t>
            </a:r>
            <a:r>
              <a:rPr lang="en-US" sz="1200" b="1" dirty="0"/>
              <a:t> </a:t>
            </a:r>
            <a:r>
              <a:rPr lang="en-US" sz="1200" b="1" dirty="0">
                <a:solidFill>
                  <a:srgbClr val="000047"/>
                </a:solidFill>
              </a:rPr>
              <a:t>Customers</a:t>
            </a:r>
            <a:r>
              <a:rPr lang="en-US" sz="1200" b="1" dirty="0"/>
              <a:t>:</a:t>
            </a:r>
            <a:r>
              <a:rPr lang="en-US" sz="1200" dirty="0"/>
              <a:t> Improved trust through secure and transparent transactions</a:t>
            </a:r>
            <a:br>
              <a:rPr lang="en-US" sz="1200" dirty="0"/>
            </a:br>
            <a:r>
              <a:rPr lang="en-US" sz="1200" b="1" dirty="0">
                <a:solidFill>
                  <a:srgbClr val="000047"/>
                </a:solidFill>
              </a:rPr>
              <a:t>Operational Efficiency</a:t>
            </a:r>
            <a:r>
              <a:rPr lang="en-US" sz="1200" b="1" dirty="0"/>
              <a:t>:</a:t>
            </a:r>
            <a:r>
              <a:rPr lang="en-US" sz="1200" dirty="0"/>
              <a:t> Automated fraud monitoring reduces manual effort</a:t>
            </a:r>
            <a:br>
              <a:rPr lang="en-US" sz="1200" dirty="0"/>
            </a:br>
            <a:r>
              <a:rPr lang="en-US" sz="1200" b="1" dirty="0">
                <a:solidFill>
                  <a:srgbClr val="000047"/>
                </a:solidFill>
              </a:rPr>
              <a:t>What if not solved</a:t>
            </a:r>
            <a:r>
              <a:rPr lang="en-US" sz="1200" b="1" dirty="0"/>
              <a:t>:</a:t>
            </a:r>
            <a:r>
              <a:rPr lang="en-US" sz="1200" dirty="0"/>
              <a:t> Continued financial losses, rising fraud risks, and reduced customer confidence</a:t>
            </a:r>
            <a:endParaRPr lang="en-AE" sz="12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81EA2EBC-D811-2E80-FB2F-AF4571CF1469}"/>
              </a:ext>
            </a:extLst>
          </p:cNvPr>
          <p:cNvSpPr txBox="1"/>
          <p:nvPr/>
        </p:nvSpPr>
        <p:spPr>
          <a:xfrm>
            <a:off x="3505200" y="4889772"/>
            <a:ext cx="6477000" cy="1444113"/>
          </a:xfrm>
          <a:prstGeom prst="rect">
            <a:avLst/>
          </a:prstGeom>
          <a:noFill/>
        </p:spPr>
        <p:txBody>
          <a:bodyPr wrap="square" rtlCol="0">
            <a:spAutoFit/>
          </a:bodyPr>
          <a:lstStyle/>
          <a:p>
            <a:pPr>
              <a:lnSpc>
                <a:spcPct val="150000"/>
              </a:lnSpc>
            </a:pPr>
            <a:r>
              <a:rPr lang="en-US" sz="1200" b="1" dirty="0">
                <a:solidFill>
                  <a:srgbClr val="000047"/>
                </a:solidFill>
              </a:rPr>
              <a:t>Week</a:t>
            </a:r>
            <a:r>
              <a:rPr lang="en-US" sz="1200" b="1" dirty="0"/>
              <a:t> </a:t>
            </a:r>
            <a:r>
              <a:rPr lang="en-US" sz="1200" b="1" dirty="0">
                <a:solidFill>
                  <a:srgbClr val="000047"/>
                </a:solidFill>
              </a:rPr>
              <a:t>1–2</a:t>
            </a:r>
            <a:r>
              <a:rPr lang="en-US" sz="1200" b="1" dirty="0"/>
              <a:t>:</a:t>
            </a:r>
            <a:r>
              <a:rPr lang="en-US" sz="1200" dirty="0"/>
              <a:t> Data collection, basic UI development, and initial model setup</a:t>
            </a:r>
            <a:br>
              <a:rPr lang="en-US" sz="1200" dirty="0"/>
            </a:br>
            <a:r>
              <a:rPr lang="en-US" sz="1200" b="1" dirty="0">
                <a:solidFill>
                  <a:srgbClr val="000047"/>
                </a:solidFill>
              </a:rPr>
              <a:t>Week 3</a:t>
            </a:r>
            <a:r>
              <a:rPr lang="en-US" sz="1200" b="1" dirty="0"/>
              <a:t>:</a:t>
            </a:r>
            <a:r>
              <a:rPr lang="en-US" sz="1200" dirty="0"/>
              <a:t> Backend APIs (Flask) and database integration</a:t>
            </a:r>
            <a:br>
              <a:rPr lang="en-US" sz="1200" dirty="0"/>
            </a:br>
            <a:r>
              <a:rPr lang="en-US" sz="1200" b="1" dirty="0">
                <a:solidFill>
                  <a:srgbClr val="000047"/>
                </a:solidFill>
              </a:rPr>
              <a:t>Week 4–5</a:t>
            </a:r>
            <a:r>
              <a:rPr lang="en-US" sz="1200" b="1" dirty="0"/>
              <a:t>:</a:t>
            </a:r>
            <a:r>
              <a:rPr lang="en-US" sz="1200" dirty="0"/>
              <a:t> ML model training, behavior intelligence, and fraud detection system</a:t>
            </a:r>
            <a:br>
              <a:rPr lang="en-US" sz="1200" dirty="0"/>
            </a:br>
            <a:r>
              <a:rPr lang="en-US" sz="1200" b="1" dirty="0">
                <a:solidFill>
                  <a:srgbClr val="000047"/>
                </a:solidFill>
              </a:rPr>
              <a:t>Week 6</a:t>
            </a:r>
            <a:r>
              <a:rPr lang="en-US" sz="1200" b="1" dirty="0"/>
              <a:t>:</a:t>
            </a:r>
            <a:r>
              <a:rPr lang="en-US" sz="1200" dirty="0"/>
              <a:t> Testing, optimization, and deployment</a:t>
            </a:r>
            <a:endParaRPr lang="en-AE" sz="1200" dirty="0">
              <a:latin typeface="Times New Roman" panose="02020603050405020304" pitchFamily="18" charset="0"/>
              <a:cs typeface="Times New Roman" panose="02020603050405020304" pitchFamily="18" charset="0"/>
            </a:endParaRPr>
          </a:p>
          <a:p>
            <a:pPr>
              <a:lnSpc>
                <a:spcPct val="150000"/>
              </a:lnSpc>
            </a:pPr>
            <a:endParaRPr lang="en-AE"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E3165-23AB-5EDC-2B9B-9521925AF04A}"/>
            </a:ext>
          </a:extLst>
        </p:cNvPr>
        <p:cNvGrpSpPr/>
        <p:nvPr/>
      </p:nvGrpSpPr>
      <p:grpSpPr>
        <a:xfrm>
          <a:off x="0" y="0"/>
          <a:ext cx="0" cy="0"/>
          <a:chOff x="0" y="0"/>
          <a:chExt cx="0" cy="0"/>
        </a:xfrm>
      </p:grpSpPr>
      <p:sp>
        <p:nvSpPr>
          <p:cNvPr id="2" name="object 5">
            <a:extLst>
              <a:ext uri="{FF2B5EF4-FFF2-40B4-BE49-F238E27FC236}">
                <a16:creationId xmlns:a16="http://schemas.microsoft.com/office/drawing/2014/main" id="{EED05EE3-F0AD-F824-4536-9F32ED4272F4}"/>
              </a:ext>
            </a:extLst>
          </p:cNvPr>
          <p:cNvSpPr txBox="1">
            <a:spLocks noGrp="1"/>
          </p:cNvSpPr>
          <p:nvPr>
            <p:ph type="title"/>
          </p:nvPr>
        </p:nvSpPr>
        <p:spPr>
          <a:xfrm>
            <a:off x="830681" y="220802"/>
            <a:ext cx="9289415" cy="503728"/>
          </a:xfrm>
          <a:prstGeom prst="rect">
            <a:avLst/>
          </a:prstGeom>
        </p:spPr>
        <p:txBody>
          <a:bodyPr vert="horz" wrap="square" lIns="0" tIns="133096" rIns="0" bIns="0" rtlCol="0">
            <a:spAutoFit/>
          </a:bodyPr>
          <a:lstStyle/>
          <a:p>
            <a:pPr marL="300355">
              <a:lnSpc>
                <a:spcPct val="100000"/>
              </a:lnSpc>
              <a:spcBef>
                <a:spcPts val="100"/>
              </a:spcBef>
            </a:pPr>
            <a:r>
              <a:rPr lang="en-US" sz="2400" b="1" dirty="0">
                <a:solidFill>
                  <a:srgbClr val="000047"/>
                </a:solidFill>
                <a:latin typeface="Times New Roman" panose="02020603050405020304" pitchFamily="18" charset="0"/>
                <a:cs typeface="Times New Roman" panose="02020603050405020304" pitchFamily="18" charset="0"/>
              </a:rPr>
              <a:t>System Architecture &amp; Live Demo Flow</a:t>
            </a:r>
            <a:endParaRPr sz="2400" b="1" dirty="0">
              <a:solidFill>
                <a:srgbClr val="000047"/>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748F9B9-42B6-B7A3-6C4C-2D16BA13C1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44177"/>
            <a:ext cx="685800" cy="685800"/>
          </a:xfrm>
          <a:prstGeom prst="rect">
            <a:avLst/>
          </a:prstGeom>
        </p:spPr>
      </p:pic>
      <p:sp>
        <p:nvSpPr>
          <p:cNvPr id="3" name="Rectangle 2">
            <a:extLst>
              <a:ext uri="{FF2B5EF4-FFF2-40B4-BE49-F238E27FC236}">
                <a16:creationId xmlns:a16="http://schemas.microsoft.com/office/drawing/2014/main" id="{5A34C67A-8EBF-AE98-72A8-F46F6E909962}"/>
              </a:ext>
            </a:extLst>
          </p:cNvPr>
          <p:cNvSpPr/>
          <p:nvPr/>
        </p:nvSpPr>
        <p:spPr>
          <a:xfrm>
            <a:off x="304800" y="747905"/>
            <a:ext cx="11582400" cy="5652895"/>
          </a:xfrm>
          <a:prstGeom prst="rect">
            <a:avLst/>
          </a:prstGeom>
          <a:solidFill>
            <a:srgbClr val="F1F1F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Picture 7">
            <a:extLst>
              <a:ext uri="{FF2B5EF4-FFF2-40B4-BE49-F238E27FC236}">
                <a16:creationId xmlns:a16="http://schemas.microsoft.com/office/drawing/2014/main" id="{924EBE58-EC1E-8822-FC9E-1D174398AA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3772" y="1397007"/>
            <a:ext cx="3430911" cy="4713088"/>
          </a:xfrm>
          <a:prstGeom prst="rect">
            <a:avLst/>
          </a:prstGeom>
        </p:spPr>
      </p:pic>
      <p:sp>
        <p:nvSpPr>
          <p:cNvPr id="10" name="object 6">
            <a:extLst>
              <a:ext uri="{FF2B5EF4-FFF2-40B4-BE49-F238E27FC236}">
                <a16:creationId xmlns:a16="http://schemas.microsoft.com/office/drawing/2014/main" id="{0AE0E4B6-56BE-8BAA-3831-94E1220EDF93}"/>
              </a:ext>
            </a:extLst>
          </p:cNvPr>
          <p:cNvSpPr txBox="1"/>
          <p:nvPr/>
        </p:nvSpPr>
        <p:spPr>
          <a:xfrm>
            <a:off x="2572118" y="929977"/>
            <a:ext cx="2014220" cy="407804"/>
          </a:xfrm>
          <a:prstGeom prst="rect">
            <a:avLst/>
          </a:prstGeom>
          <a:solidFill>
            <a:srgbClr val="000047"/>
          </a:solidFill>
        </p:spPr>
        <p:txBody>
          <a:bodyPr vert="horz" wrap="square" lIns="0" tIns="38100" rIns="0" bIns="0" rtlCol="0">
            <a:spAutoFit/>
          </a:bodyPr>
          <a:lstStyle/>
          <a:p>
            <a:pPr marL="117475">
              <a:lnSpc>
                <a:spcPct val="100000"/>
              </a:lnSpc>
              <a:spcBef>
                <a:spcPts val="300"/>
              </a:spcBef>
            </a:pPr>
            <a:r>
              <a:rPr lang="en-US" sz="2400" b="1" dirty="0">
                <a:solidFill>
                  <a:schemeClr val="bg1"/>
                </a:solidFill>
                <a:latin typeface="Times New Roman" panose="02020603050405020304" pitchFamily="18" charset="0"/>
                <a:cs typeface="Times New Roman" panose="02020603050405020304" pitchFamily="18" charset="0"/>
              </a:rPr>
              <a:t>Architecture</a:t>
            </a:r>
            <a:endParaRPr lang="en-IN" sz="2400" dirty="0">
              <a:solidFill>
                <a:schemeClr val="bg1"/>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34575E19-F2E3-027F-DD42-3F7C6EDE16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84210" y="1397007"/>
            <a:ext cx="2209800" cy="4713089"/>
          </a:xfrm>
          <a:prstGeom prst="rect">
            <a:avLst/>
          </a:prstGeom>
        </p:spPr>
      </p:pic>
      <p:sp>
        <p:nvSpPr>
          <p:cNvPr id="13" name="object 6">
            <a:extLst>
              <a:ext uri="{FF2B5EF4-FFF2-40B4-BE49-F238E27FC236}">
                <a16:creationId xmlns:a16="http://schemas.microsoft.com/office/drawing/2014/main" id="{68DE9E38-8AF6-78A4-EF00-7ED2AB062AA0}"/>
              </a:ext>
            </a:extLst>
          </p:cNvPr>
          <p:cNvSpPr txBox="1"/>
          <p:nvPr/>
        </p:nvSpPr>
        <p:spPr>
          <a:xfrm>
            <a:off x="8218805" y="924772"/>
            <a:ext cx="2340610" cy="407804"/>
          </a:xfrm>
          <a:prstGeom prst="rect">
            <a:avLst/>
          </a:prstGeom>
          <a:solidFill>
            <a:srgbClr val="000047"/>
          </a:solidFill>
        </p:spPr>
        <p:txBody>
          <a:bodyPr vert="horz" wrap="square" lIns="0" tIns="38100" rIns="0" bIns="0" rtlCol="0">
            <a:spAutoFit/>
          </a:bodyPr>
          <a:lstStyle/>
          <a:p>
            <a:pPr marL="117475">
              <a:lnSpc>
                <a:spcPct val="100000"/>
              </a:lnSpc>
              <a:spcBef>
                <a:spcPts val="300"/>
              </a:spcBef>
            </a:pPr>
            <a:r>
              <a:rPr lang="en-US" sz="2400" b="1" dirty="0">
                <a:solidFill>
                  <a:schemeClr val="bg1"/>
                </a:solidFill>
                <a:latin typeface="Times New Roman" panose="02020603050405020304" pitchFamily="18" charset="0"/>
                <a:cs typeface="Times New Roman" panose="02020603050405020304" pitchFamily="18" charset="0"/>
              </a:rPr>
              <a:t>Live Demo Flow</a:t>
            </a:r>
            <a:endParaRPr lang="en-IN" sz="2400" dirty="0">
              <a:solidFill>
                <a:schemeClr val="bg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B062691-7B5A-56DA-897D-696E5E5BC03D}"/>
              </a:ext>
            </a:extLst>
          </p:cNvPr>
          <p:cNvSpPr txBox="1"/>
          <p:nvPr/>
        </p:nvSpPr>
        <p:spPr>
          <a:xfrm>
            <a:off x="2711900" y="6110095"/>
            <a:ext cx="6768199" cy="261610"/>
          </a:xfrm>
          <a:prstGeom prst="rect">
            <a:avLst/>
          </a:prstGeom>
          <a:noFill/>
        </p:spPr>
        <p:txBody>
          <a:bodyPr wrap="none" rtlCol="0">
            <a:spAutoFit/>
          </a:bodyPr>
          <a:lstStyle/>
          <a:p>
            <a:r>
              <a:rPr lang="en-US" sz="1100" dirty="0"/>
              <a:t>Example: Usual Spendings ₹100, ₹200… Abnormal Transaction ₹50,000 → Fraud Score 92% → Blocked</a:t>
            </a:r>
            <a:endParaRPr lang="en-IN" sz="1100" dirty="0"/>
          </a:p>
        </p:txBody>
      </p:sp>
      <p:sp>
        <p:nvSpPr>
          <p:cNvPr id="4" name="object 15">
            <a:extLst>
              <a:ext uri="{FF2B5EF4-FFF2-40B4-BE49-F238E27FC236}">
                <a16:creationId xmlns:a16="http://schemas.microsoft.com/office/drawing/2014/main" id="{EB76D4E2-C8AF-9CB1-25DD-44C48ABCBF9A}"/>
              </a:ext>
            </a:extLst>
          </p:cNvPr>
          <p:cNvSpPr txBox="1">
            <a:spLocks noGrp="1"/>
          </p:cNvSpPr>
          <p:nvPr>
            <p:ph type="sldNum" sz="quarter" idx="7"/>
          </p:nvPr>
        </p:nvSpPr>
        <p:spPr>
          <a:xfrm>
            <a:off x="419100" y="6457128"/>
            <a:ext cx="148590" cy="173123"/>
          </a:xfrm>
          <a:prstGeom prst="rect">
            <a:avLst/>
          </a:prstGeom>
        </p:spPr>
        <p:txBody>
          <a:bodyPr vert="horz" wrap="square" lIns="0" tIns="64769" rIns="0" bIns="0" rtlCol="0">
            <a:spAutoFit/>
          </a:bodyPr>
          <a:lstStyle/>
          <a:p>
            <a:pPr marL="38100">
              <a:lnSpc>
                <a:spcPct val="100000"/>
              </a:lnSpc>
              <a:spcBef>
                <a:spcPts val="30"/>
              </a:spcBef>
            </a:pPr>
            <a:fld id="{81D60167-4931-47E6-BA6A-407CBD079E47}" type="slidenum">
              <a:rPr spc="-50" dirty="0">
                <a:latin typeface="Times New Roman" panose="02020603050405020304" pitchFamily="18" charset="0"/>
                <a:cs typeface="Times New Roman" panose="02020603050405020304" pitchFamily="18" charset="0"/>
              </a:rPr>
              <a:t>5</a:t>
            </a:fld>
            <a:endParaRPr spc="-50" dirty="0">
              <a:latin typeface="Times New Roman" panose="02020603050405020304" pitchFamily="18" charset="0"/>
              <a:cs typeface="Times New Roman" panose="02020603050405020304" pitchFamily="18" charset="0"/>
            </a:endParaRPr>
          </a:p>
        </p:txBody>
      </p:sp>
      <p:sp>
        <p:nvSpPr>
          <p:cNvPr id="7" name="object 14">
            <a:extLst>
              <a:ext uri="{FF2B5EF4-FFF2-40B4-BE49-F238E27FC236}">
                <a16:creationId xmlns:a16="http://schemas.microsoft.com/office/drawing/2014/main" id="{0C3F549B-F2E6-DEF8-ED64-6A66F0A6F67D}"/>
              </a:ext>
            </a:extLst>
          </p:cNvPr>
          <p:cNvSpPr txBox="1">
            <a:spLocks noGrp="1"/>
          </p:cNvSpPr>
          <p:nvPr>
            <p:ph type="ftr" sz="quarter" idx="5"/>
          </p:nvPr>
        </p:nvSpPr>
        <p:spPr>
          <a:xfrm>
            <a:off x="993139" y="6441888"/>
            <a:ext cx="1423670" cy="111569"/>
          </a:xfrm>
          <a:prstGeom prst="rect">
            <a:avLst/>
          </a:prstGeom>
        </p:spPr>
        <p:txBody>
          <a:bodyPr vert="horz" wrap="square" lIns="0" tIns="3810" rIns="0" bIns="0" rtlCol="0">
            <a:spAutoFit/>
          </a:bodyPr>
          <a:lstStyle/>
          <a:p>
            <a:pPr marL="104139">
              <a:lnSpc>
                <a:spcPct val="100000"/>
              </a:lnSpc>
              <a:spcBef>
                <a:spcPts val="30"/>
              </a:spcBef>
            </a:pPr>
            <a:r>
              <a:rPr dirty="0">
                <a:latin typeface="Times New Roman" panose="02020603050405020304" pitchFamily="18" charset="0"/>
                <a:cs typeface="Times New Roman" panose="02020603050405020304" pitchFamily="18" charset="0"/>
              </a:rPr>
              <a:t>©</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2026–2027 Cognizant</a:t>
            </a:r>
            <a:r>
              <a:rPr spc="-1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3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Private</a:t>
            </a:r>
          </a:p>
        </p:txBody>
      </p:sp>
      <p:sp>
        <p:nvSpPr>
          <p:cNvPr id="9" name="object 4">
            <a:extLst>
              <a:ext uri="{FF2B5EF4-FFF2-40B4-BE49-F238E27FC236}">
                <a16:creationId xmlns:a16="http://schemas.microsoft.com/office/drawing/2014/main" id="{0AEE26EA-B92A-1E92-8E5A-7D67A9BB8F5D}"/>
              </a:ext>
            </a:extLst>
          </p:cNvPr>
          <p:cNvSpPr txBox="1">
            <a:spLocks/>
          </p:cNvSpPr>
          <p:nvPr/>
        </p:nvSpPr>
        <p:spPr>
          <a:xfrm>
            <a:off x="5475697" y="6467519"/>
            <a:ext cx="1240603" cy="320601"/>
          </a:xfrm>
          <a:prstGeom prst="rect">
            <a:avLst/>
          </a:prstGeom>
        </p:spPr>
        <p:txBody>
          <a:bodyPr vert="horz" wrap="square" lIns="0" tIns="12700" rIns="0" bIns="0" rtlCol="0">
            <a:spAutoFit/>
          </a:bodyPr>
          <a:lstStyle>
            <a:lvl1pPr>
              <a:defRPr sz="4000" b="0" i="0">
                <a:solidFill>
                  <a:schemeClr val="bg1"/>
                </a:solidFill>
                <a:latin typeface="Arial MT"/>
                <a:ea typeface="+mj-ea"/>
                <a:cs typeface="Arial MT"/>
              </a:defRPr>
            </a:lvl1pPr>
          </a:lstStyle>
          <a:p>
            <a:pPr marL="12700">
              <a:spcBef>
                <a:spcPts val="100"/>
              </a:spcBef>
            </a:pPr>
            <a:r>
              <a:rPr lang="en-IN" sz="2000" dirty="0">
                <a:solidFill>
                  <a:srgbClr val="000047"/>
                </a:solidFill>
                <a:latin typeface="Arial"/>
                <a:cs typeface="Arial"/>
              </a:rPr>
              <a:t>Thank</a:t>
            </a:r>
            <a:r>
              <a:rPr lang="en-IN" sz="2000" spc="-20" dirty="0">
                <a:solidFill>
                  <a:srgbClr val="000047"/>
                </a:solidFill>
                <a:latin typeface="Arial"/>
                <a:cs typeface="Arial"/>
              </a:rPr>
              <a:t> </a:t>
            </a:r>
            <a:r>
              <a:rPr lang="en-IN" sz="2000" spc="-25" dirty="0">
                <a:solidFill>
                  <a:srgbClr val="000047"/>
                </a:solidFill>
                <a:latin typeface="Arial"/>
                <a:cs typeface="Arial"/>
              </a:rPr>
              <a:t>you</a:t>
            </a:r>
            <a:endParaRPr lang="en-IN" sz="2000" dirty="0">
              <a:latin typeface="Arial"/>
              <a:cs typeface="Arial"/>
            </a:endParaRPr>
          </a:p>
        </p:txBody>
      </p:sp>
    </p:spTree>
    <p:extLst>
      <p:ext uri="{BB962C8B-B14F-4D97-AF65-F5344CB8AC3E}">
        <p14:creationId xmlns:p14="http://schemas.microsoft.com/office/powerpoint/2010/main" val="2672536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158</TotalTime>
  <Words>683</Words>
  <Application>Microsoft Office PowerPoint</Application>
  <PresentationFormat>Widescreen</PresentationFormat>
  <Paragraphs>61</Paragraphs>
  <Slides>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Arial MT</vt:lpstr>
      <vt:lpstr>Times New Roman</vt:lpstr>
      <vt:lpstr>Office Theme</vt:lpstr>
      <vt:lpstr>PowerPoint Presentation</vt:lpstr>
      <vt:lpstr>PowerPoint Presentation</vt:lpstr>
      <vt:lpstr>PowerPoint Presentation</vt:lpstr>
      <vt:lpstr>Financials &amp; Timelines | Business Plan (2/2)</vt:lpstr>
      <vt:lpstr>System Architecture &amp; Live Demo Flow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gallabharath kumar</cp:lastModifiedBy>
  <cp:revision>4</cp:revision>
  <dcterms:created xsi:type="dcterms:W3CDTF">2026-04-12T10:43:53Z</dcterms:created>
  <dcterms:modified xsi:type="dcterms:W3CDTF">2026-04-12T14:24:05Z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2026-04-04T00:00:00Z</vt:filetime>
  </property>
  <property fmtid="{D5CDD505-2E9C-101B-9397-08002B2CF9AE}" pid="3" name="Creator">
    <vt:lpwstr>Microsoft® PowerPoint® for Microsoft 365</vt:lpwstr>
  </property>
  <property fmtid="{D5CDD505-2E9C-101B-9397-08002B2CF9AE}" pid="4" name="LastSaved">
    <vt:filetime>2026-04-12T00:00:00Z</vt:filetime>
  </property>
  <property fmtid="{D5CDD505-2E9C-101B-9397-08002B2CF9AE}" pid="5" name="Producer">
    <vt:lpwstr>Microsoft® PowerPoint® for Microsoft 365</vt:lpwstr>
  </property>
</Properties>
</file>